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745c6c830624b32" /><Relationship Type="http://schemas.openxmlformats.org/officeDocument/2006/relationships/extended-properties" Target="/docProps/app.xml" Id="Rd32ddca035d24142" /><Relationship Type="http://schemas.openxmlformats.org/officeDocument/2006/relationships/officeDocument" Target="/ppt/presentation.xml" Id="Rbf650e6c3826481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ee72172c9274314"/>
  </p:sldMasterIdLst>
  <p:notesMasterIdLst>
    <p:notesMasterId xmlns:r="http://schemas.openxmlformats.org/officeDocument/2006/relationships" r:id="R4fcdf7b1e4e74398"/>
  </p:notesMasterIdLst>
  <p:sldIdLst>
    <p:sldId xmlns:r="http://schemas.openxmlformats.org/officeDocument/2006/relationships" id="256" r:id="R93b6030fea1e4ce6"/>
    <p:sldId xmlns:r="http://schemas.openxmlformats.org/officeDocument/2006/relationships" id="257" r:id="R913018e795b94640"/>
    <p:sldId xmlns:r="http://schemas.openxmlformats.org/officeDocument/2006/relationships" id="258" r:id="R88acea899aad454c"/>
    <p:sldId xmlns:r="http://schemas.openxmlformats.org/officeDocument/2006/relationships" id="259" r:id="Rd4e7cac4627d4ce8"/>
    <p:sldId xmlns:r="http://schemas.openxmlformats.org/officeDocument/2006/relationships" id="260" r:id="R287721f8b32b426a"/>
    <p:sldId xmlns:r="http://schemas.openxmlformats.org/officeDocument/2006/relationships" id="261" r:id="R059a768a8d8242d4"/>
    <p:sldId xmlns:r="http://schemas.openxmlformats.org/officeDocument/2006/relationships" id="262" r:id="Rc68149130c904c06"/>
    <p:sldId xmlns:r="http://schemas.openxmlformats.org/officeDocument/2006/relationships" id="263" r:id="Rdf9799935b3142a7"/>
    <p:sldId xmlns:r="http://schemas.openxmlformats.org/officeDocument/2006/relationships" id="264" r:id="R5c94d3c8793b4991"/>
    <p:sldId xmlns:r="http://schemas.openxmlformats.org/officeDocument/2006/relationships" id="265" r:id="R5b344ebd7dd3475c"/>
    <p:sldId xmlns:r="http://schemas.openxmlformats.org/officeDocument/2006/relationships" id="266" r:id="R989b69254508476e"/>
    <p:sldId xmlns:r="http://schemas.openxmlformats.org/officeDocument/2006/relationships" id="267" r:id="Rf363c771aa5745b5"/>
    <p:sldId xmlns:r="http://schemas.openxmlformats.org/officeDocument/2006/relationships" id="268" r:id="R1653505bd21a4181"/>
    <p:sldId xmlns:r="http://schemas.openxmlformats.org/officeDocument/2006/relationships" id="269" r:id="R136c3f3d0d774a5b"/>
    <p:sldId xmlns:r="http://schemas.openxmlformats.org/officeDocument/2006/relationships" id="270" r:id="Rba1e17fff7cf46e4"/>
    <p:sldId xmlns:r="http://schemas.openxmlformats.org/officeDocument/2006/relationships" id="271" r:id="R81ef2b532b204e5f"/>
    <p:sldId xmlns:r="http://schemas.openxmlformats.org/officeDocument/2006/relationships" id="272" r:id="R930b3a0d95a34a6f"/>
    <p:sldId xmlns:r="http://schemas.openxmlformats.org/officeDocument/2006/relationships" id="273" r:id="R7529a2ff2a1f4fd7"/>
    <p:sldId xmlns:r="http://schemas.openxmlformats.org/officeDocument/2006/relationships" id="274" r:id="R23b4c7b5e54c4cdf"/>
    <p:sldId xmlns:r="http://schemas.openxmlformats.org/officeDocument/2006/relationships" id="275" r:id="R752f95b40e89400d"/>
    <p:sldId xmlns:r="http://schemas.openxmlformats.org/officeDocument/2006/relationships" id="276" r:id="R71e4378cf331426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fb4652ecf0542c9" /><Relationship Type="http://schemas.openxmlformats.org/officeDocument/2006/relationships/slideMaster" Target="/ppt/slideMasters/slideMaster1.xml" Id="Rdee72172c9274314" /><Relationship Type="http://schemas.openxmlformats.org/officeDocument/2006/relationships/notesMaster" Target="/ppt/notesMasters/notesMaster1.xml" Id="R4fcdf7b1e4e74398" /><Relationship Type="http://schemas.openxmlformats.org/officeDocument/2006/relationships/presProps" Target="/ppt/presProps.xml" Id="Ra810acd79cd8463e" /><Relationship Type="http://schemas.openxmlformats.org/officeDocument/2006/relationships/tableStyles" Target="/ppt/tableStyles.xml" Id="R34fbd8e982c9411a" /><Relationship Type="http://schemas.openxmlformats.org/officeDocument/2006/relationships/slide" Target="/ppt/slides/slide1.xml" Id="R93b6030fea1e4ce6" /><Relationship Type="http://schemas.openxmlformats.org/officeDocument/2006/relationships/slide" Target="/ppt/slides/slide2.xml" Id="R913018e795b94640" /><Relationship Type="http://schemas.openxmlformats.org/officeDocument/2006/relationships/slide" Target="/ppt/slides/slide3.xml" Id="R88acea899aad454c" /><Relationship Type="http://schemas.openxmlformats.org/officeDocument/2006/relationships/slide" Target="/ppt/slides/slide4.xml" Id="Rd4e7cac4627d4ce8" /><Relationship Type="http://schemas.openxmlformats.org/officeDocument/2006/relationships/slide" Target="/ppt/slides/slide5.xml" Id="R287721f8b32b426a" /><Relationship Type="http://schemas.openxmlformats.org/officeDocument/2006/relationships/slide" Target="/ppt/slides/slide6.xml" Id="R059a768a8d8242d4" /><Relationship Type="http://schemas.openxmlformats.org/officeDocument/2006/relationships/slide" Target="/ppt/slides/slide7.xml" Id="Rc68149130c904c06" /><Relationship Type="http://schemas.openxmlformats.org/officeDocument/2006/relationships/slide" Target="/ppt/slides/slide8.xml" Id="Rdf9799935b3142a7" /><Relationship Type="http://schemas.openxmlformats.org/officeDocument/2006/relationships/slide" Target="/ppt/slides/slide9.xml" Id="R5c94d3c8793b4991" /><Relationship Type="http://schemas.openxmlformats.org/officeDocument/2006/relationships/slide" Target="/ppt/slides/slide10.xml" Id="R5b344ebd7dd3475c" /><Relationship Type="http://schemas.openxmlformats.org/officeDocument/2006/relationships/slide" Target="/ppt/slides/slide11.xml" Id="R989b69254508476e" /><Relationship Type="http://schemas.openxmlformats.org/officeDocument/2006/relationships/slide" Target="/ppt/slides/slide12.xml" Id="Rf363c771aa5745b5" /><Relationship Type="http://schemas.openxmlformats.org/officeDocument/2006/relationships/slide" Target="/ppt/slides/slide13.xml" Id="R1653505bd21a4181" /><Relationship Type="http://schemas.openxmlformats.org/officeDocument/2006/relationships/slide" Target="/ppt/slides/slide14.xml" Id="R136c3f3d0d774a5b" /><Relationship Type="http://schemas.openxmlformats.org/officeDocument/2006/relationships/slide" Target="/ppt/slides/slide15.xml" Id="Rba1e17fff7cf46e4" /><Relationship Type="http://schemas.openxmlformats.org/officeDocument/2006/relationships/slide" Target="/ppt/slides/slide16.xml" Id="R81ef2b532b204e5f" /><Relationship Type="http://schemas.openxmlformats.org/officeDocument/2006/relationships/slide" Target="/ppt/slides/slide17.xml" Id="R930b3a0d95a34a6f" /><Relationship Type="http://schemas.openxmlformats.org/officeDocument/2006/relationships/slide" Target="/ppt/slides/slide18.xml" Id="R7529a2ff2a1f4fd7" /><Relationship Type="http://schemas.openxmlformats.org/officeDocument/2006/relationships/slide" Target="/ppt/slides/slide19.xml" Id="R23b4c7b5e54c4cdf" /><Relationship Type="http://schemas.openxmlformats.org/officeDocument/2006/relationships/slide" Target="/ppt/slides/slide20.xml" Id="R752f95b40e89400d" /><Relationship Type="http://schemas.openxmlformats.org/officeDocument/2006/relationships/slide" Target="/ppt/slides/slide21.xml" Id="R71e4378cf331426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f98dfce175c41b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5526d5f5b504fd6" /><Relationship Type="http://schemas.openxmlformats.org/officeDocument/2006/relationships/notesMaster" Target="/ppt/notesMasters/notesMaster1.xml" Id="R405c2ed3ada241d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7cdd43f2654494f" /><Relationship Type="http://schemas.openxmlformats.org/officeDocument/2006/relationships/notesMaster" Target="/ppt/notesMasters/notesMaster1.xml" Id="Rc7b2a0d1c51648c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4cdf1b6aad84ea0" /><Relationship Type="http://schemas.openxmlformats.org/officeDocument/2006/relationships/notesMaster" Target="/ppt/notesMasters/notesMaster1.xml" Id="R2160a1e4aaef4a6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79992391a894e1b" /><Relationship Type="http://schemas.openxmlformats.org/officeDocument/2006/relationships/notesMaster" Target="/ppt/notesMasters/notesMaster1.xml" Id="R2d7b900f488642a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354ffadf9f74e9e" /><Relationship Type="http://schemas.openxmlformats.org/officeDocument/2006/relationships/notesMaster" Target="/ppt/notesMasters/notesMaster1.xml" Id="R6bd7cdb6556143c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cf860f452734429" /><Relationship Type="http://schemas.openxmlformats.org/officeDocument/2006/relationships/notesMaster" Target="/ppt/notesMasters/notesMaster1.xml" Id="R59b866ee506545f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40d8a6ea1c74ec7" /><Relationship Type="http://schemas.openxmlformats.org/officeDocument/2006/relationships/notesMaster" Target="/ppt/notesMasters/notesMaster1.xml" Id="R96f7249b008a4b1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fbb5409839244e2" /><Relationship Type="http://schemas.openxmlformats.org/officeDocument/2006/relationships/notesMaster" Target="/ppt/notesMasters/notesMaster1.xml" Id="R1986d9188ba948e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381b2867df049bd" /><Relationship Type="http://schemas.openxmlformats.org/officeDocument/2006/relationships/notesMaster" Target="/ppt/notesMasters/notesMaster1.xml" Id="Ra497ef0f391a442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cf73912f3e14e5b" /><Relationship Type="http://schemas.openxmlformats.org/officeDocument/2006/relationships/notesMaster" Target="/ppt/notesMasters/notesMaster1.xml" Id="R8354724d6c3a4f4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ba43dad69864182" /><Relationship Type="http://schemas.openxmlformats.org/officeDocument/2006/relationships/notesMaster" Target="/ppt/notesMasters/notesMaster1.xml" Id="R2df3535ed7ae44c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29dacfb989c4796" /><Relationship Type="http://schemas.openxmlformats.org/officeDocument/2006/relationships/notesMaster" Target="/ppt/notesMasters/notesMaster1.xml" Id="R60a8f006d50c42a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51426bcecfd4bbf" /><Relationship Type="http://schemas.openxmlformats.org/officeDocument/2006/relationships/notesMaster" Target="/ppt/notesMasters/notesMaster1.xml" Id="R8b8cae9337c8424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da9f85c80bd4c3d" /><Relationship Type="http://schemas.openxmlformats.org/officeDocument/2006/relationships/notesMaster" Target="/ppt/notesMasters/notesMaster1.xml" Id="R6e604aa2bb78458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e0d5bc2e275481e" /><Relationship Type="http://schemas.openxmlformats.org/officeDocument/2006/relationships/notesMaster" Target="/ppt/notesMasters/notesMaster1.xml" Id="Rb485152daf094aa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ab1c57b957c4807" /><Relationship Type="http://schemas.openxmlformats.org/officeDocument/2006/relationships/notesMaster" Target="/ppt/notesMasters/notesMaster1.xml" Id="R3675421ab741446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e0e2f10c6f64f59" /><Relationship Type="http://schemas.openxmlformats.org/officeDocument/2006/relationships/notesMaster" Target="/ppt/notesMasters/notesMaster1.xml" Id="Rc202b7379ea5415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ae85dccd68f47a2" /><Relationship Type="http://schemas.openxmlformats.org/officeDocument/2006/relationships/notesMaster" Target="/ppt/notesMasters/notesMaster1.xml" Id="Rdc318467d4d4411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aa75aa8c29d401a" /><Relationship Type="http://schemas.openxmlformats.org/officeDocument/2006/relationships/notesMaster" Target="/ppt/notesMasters/notesMaster1.xml" Id="Ra7051abf286847e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f04688d293841d6" /><Relationship Type="http://schemas.openxmlformats.org/officeDocument/2006/relationships/notesMaster" Target="/ppt/notesMasters/notesMaster1.xml" Id="Rf5ca6d0d237447b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f4c3ccae1924c2c" /><Relationship Type="http://schemas.openxmlformats.org/officeDocument/2006/relationships/notesMaster" Target="/ppt/notesMasters/notesMaster1.xml" Id="Re849cbfa1fff463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Let the title sit for a moment. Do not define systems thinking yet.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“A one-line change. You were sure: an afternoon, tops. It shipped three weeks later. You have been there.”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“Here is the strange part: the line was never the whole problem. Everything around the line was.”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Keep this calm. It is recognition, not a dramatic incident story.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“There is a whole field that studies why systems keep behaving a certain way, even when the people inside them are trying to improve them.”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Systems thinking is commonly applied to ecology, economies, organisations, cities, management, and product design.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“Software engineers are not starting from zero. We already trace dependencies, watch queues, build feedback into tests and monitoring, and expect one change to affect another part of the system.”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“Formal systems thinking gives us useful names. More importantly, it teaches us to choose a wider boundary.”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“We usually stop tracing when we find the code path. Today, we keep going—from the code all the way to the people who live with what it changes.”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“Do not worry about collecting five new terms. Notice the move: each time, we keep following the effect.”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Promise better recognition and better questions, not a fix for every system in 25 minutes.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“A feedback loop happens when the result comes back and affects what happens next.”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Keep the definition short. The example will make it concrete.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Flash the fork bomb and infinite re-render quickly. The audience only needs to recognise the shape: a result feeds the next round.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 not turn either example into a mini-lecture.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Build the retry loop in ordinary words: more failures lead to more retries; retries add load; more load creates more failures.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“One retry can be sensible. When every failed request creates another request, the recovery action adds load to the thing already struggling.”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“Someone wrote that retry. It was the right call—retrying a flaky call is good engineering. The loop is what turned a good call into a bad day.”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Then name it: a reinforcing feedback loop.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Carry forward: “What comes back and changes what happens next?”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“In running code, a loop can happen in seconds. In delivery, the effects can take weeks, which makes them much easier to miss.”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“A stock is something that piles up. A flow adds to it or removes from it. A delay is the wait before we see the result.”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simple examples: backlog, open pull requests, a test queue, and work that looks done but has not been tested end to 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of hands: “Think about the software projects you have worked on. How often did they finish when you first expected them to?”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in order: Always → Usually → Sometimes → Rarely → Never.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“Interesting. We are good engineers. We plan, estimate, track work, and learn from previous projects. So why is this still so hard?”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 not blame planning, managers, or engineers. Let the question lead to the diagram.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Start with “work still to do” and “work looks complete.” Reveal “problems not found yet” as the hidden stock, then the delayed return as rework.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“A plan can show what we intend to finish. It cannot show work we do not yet know is coming back.”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“Someone marked that work done. They were not wrong—it looked done. The rework was hiding where no plan could show it.”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Treat the MIT rework cycle as a model to investigate, not proof that one mechanism explains every late project.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Carry forward: “Where does work keep piling up, and why do we only notice when we are already late?”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Play the embedded Uncle Bob video.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 not add a spoken summary, transcript, extracted lesson, or interpretation. Let the video play and continue.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“Now imagine we make one flow much faster: creating code. Does the whole delivery system become faster with it?”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“AI is not another boundary outside Delivery. It is a force that can speed up parts across the system.”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“Making one step faster helps until another step becomes the limit. That limiting step is the bottleneck.”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Keep the claim local: teams and workflows differ.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of hands: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“Who uses AI while coding?”</a:t>
            </a:r>
          </a:p>
          <a:p xmlns:a="http://schemas.openxmlformats.org/drawingml/2006/main">
            <a:r>
              <a:t>2. “Who feels writing code became faster?”</a:t>
            </a:r>
          </a:p>
          <a:p xmlns:a="http://schemas.openxmlformats.org/drawingml/2006/main">
            <a:r>
              <a:t>3. “Who feels reviewing, understanding, testing, and shipping became equally faster?”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Pause and let the pattern in the room be visible.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through Create → Understand and review → Test and integrate → Run and maintain. Widen only the first flow.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“Code creation is one flow, not the whole outcome. If later steps do not improve too, the constraint moves and work waits somewhere new.”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“Someone accepted that AI-generated pull request. Faster was the whole point. The waiting did not vanish—it moved to the reviewer.”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Carry forward: “What became faster, and what became the new bottleneck?”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“Even if we make the whole path faster, we still have another question: did the software help anyone?”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“Code showed us a loop that amplifies. Product gives us a loop that can steer.”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“A balancing loop compares what is happening with what we want, then acts to close the gap.”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Silent reflection: “Think of a feature your team shipped successfully. It worked. It was released. The ticket was closed. How did you know it actually helped anyone?”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Pause. No hands.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“Someone closed that ticket. It shipped, it worked, the ticket was green. Nobody was told whether it helped a single user.”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the open path: Build → Ship → Close ticket. Then show the return path: user response → next decision → next change.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“Shipping tells us what we did. The user’s response tells us what changed. When that response shapes what we do next, that is a feedback loop.”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One leverage demonstration: “The move is not to add another dashboard. Wire one useful signal back to a decision that somebody can actually make.”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Carry forward: “What changed for the user—and how will that change what we do next?”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“Code does not decide to retry. Work does not decide it is done. AI does not decide a pull request is ready. People make those choices inside the structure around them.”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“Every system today already had a person in it—the one who wrote the retry, the one who marked the work done, the one who accepted the pull request, and the one who closed the ticket.”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“Each made a sensible choice. That is why we end here.”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“Structure shapes behaviour” is the generalisation of the choices the audience has already seen, not a new stop.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Private reflection: “Think of the person everyone calls when something breaks. What happens when they are not there?”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 not ask anyone to identify the person or confess a team problem aloud.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through the hero loop: one person understands the system → they rescue the incident → immediate relief → deeper improvement waits → dependence grows.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“The engineer did something valuable. Thank them. But if the same person must save the system every time, the rescue is also telling us something about the system.”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“The retry cost seconds. Hidden rework cost weeks. An open product loop can cost users. A hero system can cost someone their Saturday.”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 not diagnose burnout from one example. The warning sign is repeated dependence on the same people’s time and attention.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Let the completed journey sit behind the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“What is the system teaching people to do?”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 not recap the five definitions or five carry-forward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Final spoken line: “Start with the code. Follow what it changes. End with the people.”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Then stop.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843c63c4af4bf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b3b68a5c1774374" /><Relationship Type="http://schemas.openxmlformats.org/officeDocument/2006/relationships/slideLayout" Target="/ppt/slideLayouts/slideLayout1.xml" Id="R8fe501b344874b3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fe501b344874b3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8c3f7ccab8477f" /><Relationship Type="http://schemas.openxmlformats.org/officeDocument/2006/relationships/notesSlide" Target="/ppt/notesSlides/notesSlide1.xml" Id="R98ae2dfde6524de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39b483137a4f2a" /><Relationship Type="http://schemas.openxmlformats.org/officeDocument/2006/relationships/notesSlide" Target="/ppt/notesSlides/notesSlide2.xml" Id="R64fce72ec1e4439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36755486ba4e37" /><Relationship Type="http://schemas.openxmlformats.org/officeDocument/2006/relationships/notesSlide" Target="/ppt/notesSlides/notesSlide3.xml" Id="Rd97cfa525456432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1a0add038d4915" /><Relationship Type="http://schemas.openxmlformats.org/officeDocument/2006/relationships/notesSlide" Target="/ppt/notesSlides/notesSlide4.xml" Id="Rc127a9234a6042c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67b0e8cbc5402b" /><Relationship Type="http://schemas.openxmlformats.org/officeDocument/2006/relationships/notesSlide" Target="/ppt/notesSlides/notesSlide5.xml" Id="Re881fea75ffb446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c6472823fd4e4a" /><Relationship Type="http://schemas.openxmlformats.org/officeDocument/2006/relationships/notesSlide" Target="/ppt/notesSlides/notesSlide6.xml" Id="Re58d5383557847e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97dd3947e94f28" /><Relationship Type="http://schemas.openxmlformats.org/officeDocument/2006/relationships/notesSlide" Target="/ppt/notesSlides/notesSlide7.xml" Id="Rd506af88d1ee449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11fdc9a8374cd7" /><Relationship Type="http://schemas.openxmlformats.org/officeDocument/2006/relationships/notesSlide" Target="/ppt/notesSlides/notesSlide8.xml" Id="R31bf841c094d401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9287b3dc964375" /><Relationship Type="http://schemas.openxmlformats.org/officeDocument/2006/relationships/notesSlide" Target="/ppt/notesSlides/notesSlide9.xml" Id="Ra7234e2bbb78488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513097d19b440c" /><Relationship Type="http://schemas.openxmlformats.org/officeDocument/2006/relationships/notesSlide" Target="/ppt/notesSlides/notesSlide10.xml" Id="R53e3b3843d5441c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ab9db386d54684" /><Relationship Type="http://schemas.openxmlformats.org/officeDocument/2006/relationships/image" Target="/ppt/media/image.jpeg" Id="R89ed1856c79e4d1d" /><Relationship Type="http://schemas.openxmlformats.org/officeDocument/2006/relationships/hyperlink" Target="https://www.youtube.com/watch?v=RlNpMz6X9lc" TargetMode="External" Id="R3788fc2411f74f3d" /><Relationship Type="http://schemas.openxmlformats.org/officeDocument/2006/relationships/notesSlide" Target="/ppt/notesSlides/notesSlide11.xml" Id="R84fe37924ebe44f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c4310a8b01460a" /><Relationship Type="http://schemas.openxmlformats.org/officeDocument/2006/relationships/notesSlide" Target="/ppt/notesSlides/notesSlide12.xml" Id="R1f74aacb19bc48a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7c5912290b4c2c" /><Relationship Type="http://schemas.openxmlformats.org/officeDocument/2006/relationships/notesSlide" Target="/ppt/notesSlides/notesSlide13.xml" Id="R62aaacfaaa184f6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6d7c2ab59648c8" /><Relationship Type="http://schemas.openxmlformats.org/officeDocument/2006/relationships/notesSlide" Target="/ppt/notesSlides/notesSlide14.xml" Id="R81f385c9d6874a4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c81a5c78a34899" /><Relationship Type="http://schemas.openxmlformats.org/officeDocument/2006/relationships/notesSlide" Target="/ppt/notesSlides/notesSlide15.xml" Id="R8d1ad6d773e04bd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7092d50df24e2e" /><Relationship Type="http://schemas.openxmlformats.org/officeDocument/2006/relationships/notesSlide" Target="/ppt/notesSlides/notesSlide16.xml" Id="R063585c88a2649e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3758043fea4576" /><Relationship Type="http://schemas.openxmlformats.org/officeDocument/2006/relationships/notesSlide" Target="/ppt/notesSlides/notesSlide17.xml" Id="R6a753a370b96435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d20030d569444a" /><Relationship Type="http://schemas.openxmlformats.org/officeDocument/2006/relationships/notesSlide" Target="/ppt/notesSlides/notesSlide18.xml" Id="R555eb16fe3a6469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20ef526f5a4367" /><Relationship Type="http://schemas.openxmlformats.org/officeDocument/2006/relationships/notesSlide" Target="/ppt/notesSlides/notesSlide19.xml" Id="R0f9b4ef2415d40a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03df96270f4e21" /><Relationship Type="http://schemas.openxmlformats.org/officeDocument/2006/relationships/notesSlide" Target="/ppt/notesSlides/notesSlide20.xml" Id="R8fc774da3b83421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19cdce588544b8" /><Relationship Type="http://schemas.openxmlformats.org/officeDocument/2006/relationships/image" Target="/ppt/media/image.png" Id="R1498d69bf9b7409b" /><Relationship Type="http://schemas.openxmlformats.org/officeDocument/2006/relationships/notesSlide" Target="/ppt/notesSlides/notesSlide21.xml" Id="Rb49bd155ef8b47d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background">
            <a:extLst xmlns:a="http://schemas.openxmlformats.org/drawingml/2006/main">
              <a:ext uri="{FF2B5EF4-FFF2-40B4-BE49-F238E27FC236}">
                <a16:creationId xmlns:a16="http://schemas.microsoft.com/office/drawing/2014/main" id="{15FC36BF-B1FE-4669-9CBF-97AC48D79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kicker">
            <a:extLst xmlns:a="http://schemas.openxmlformats.org/drawingml/2006/main">
              <a:ext uri="{FF2B5EF4-FFF2-40B4-BE49-F238E27FC236}">
                <a16:creationId xmlns:a16="http://schemas.microsoft.com/office/drawing/2014/main" id="{E4DE32EB-50C9-4493-B349-22AB26A65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552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SYSTEMS THINKING</a:t>
            </a:r>
          </a:p>
        </p:txBody>
      </p:sp>
      <p:sp>
        <p:nvSpPr>
          <p:cNvPr id="3" name="deck-title">
            <a:extLst xmlns:a="http://schemas.openxmlformats.org/drawingml/2006/main">
              <a:ext uri="{FF2B5EF4-FFF2-40B4-BE49-F238E27FC236}">
                <a16:creationId xmlns:a16="http://schemas.microsoft.com/office/drawing/2014/main" id="{BF9D6F30-D75F-45A9-A28E-0C182DE8E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9810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buNone/>
              <a:defRPr sz="5700" b="1">
                <a:solidFill>
                  <a:srgbClr val="000000"/>
                </a:solidFill>
              </a:defRPr>
            </a:pPr>
            <a:r>
              <a:rPr sz="5700" b="1">
                <a:solidFill>
                  <a:srgbClr val="000000"/>
                </a:solidFill>
              </a:rPr>
              <a:t>Systems Thinking</a:t>
            </a:r>
          </a:p>
          <a:p xmlns:a="http://schemas.openxmlformats.org/drawingml/2006/main">
            <a:pPr algn="l">
              <a:buNone/>
              <a:defRPr sz="5700" b="1">
                <a:solidFill>
                  <a:srgbClr val="000000"/>
                </a:solidFill>
              </a:defRPr>
            </a:pPr>
            <a:r>
              <a:rPr sz="5700" b="1">
                <a:solidFill>
                  <a:srgbClr val="000000"/>
                </a:solidFill>
              </a:rPr>
              <a:t>for Software Developers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21038C90-4019-4FC3-A2B9-3700F5B67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86250"/>
            <a:ext cx="2000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F4FF2745-F34B-43FB-8274-D0A9A02A2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6725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5E6269"/>
                </a:solidFill>
              </a:defRPr>
            </a:pPr>
            <a:r>
              <a:rPr sz="2250" b="0">
                <a:solidFill>
                  <a:srgbClr val="5E6269"/>
                </a:solidFill>
              </a:rPr>
              <a:t>Seeing the systems inside and around our code.</a:t>
            </a:r>
          </a:p>
        </p:txBody>
      </p:sp>
      <p:sp>
        <p:nvSpPr>
          <p:cNvPr id="6" name="page-1">
            <a:extLst xmlns:a="http://schemas.openxmlformats.org/drawingml/2006/main">
              <a:ext uri="{FF2B5EF4-FFF2-40B4-BE49-F238E27FC236}">
                <a16:creationId xmlns:a16="http://schemas.microsoft.com/office/drawing/2014/main" id="{40BB80CF-7092-472F-8AF5-AB60B01A2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E6269"/>
                </a:solidFill>
              </a:defRPr>
            </a:pPr>
            <a:r>
              <a:rPr sz="975" b="0">
                <a:solidFill>
                  <a:srgbClr val="5E6269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7417000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-2">
            <a:extLst xmlns:a="http://schemas.openxmlformats.org/drawingml/2006/main">
              <a:ext uri="{FF2B5EF4-FFF2-40B4-BE49-F238E27FC236}">
                <a16:creationId xmlns:a16="http://schemas.microsoft.com/office/drawing/2014/main" id="{386AF5C6-B42D-4C26-AF19-DB188D303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2">
            <a:extLst xmlns:a="http://schemas.openxmlformats.org/drawingml/2006/main">
              <a:ext uri="{FF2B5EF4-FFF2-40B4-BE49-F238E27FC236}">
                <a16:creationId xmlns:a16="http://schemas.microsoft.com/office/drawing/2014/main" id="{A9F1EC47-E3F1-4012-A109-A06E3EC9C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28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E6269"/>
                </a:solidFill>
              </a:defRPr>
            </a:pPr>
            <a:r>
              <a:rPr sz="1350" b="1">
                <a:solidFill>
                  <a:srgbClr val="5E6269"/>
                </a:solidFill>
              </a:rPr>
              <a:t>OPENING</a:t>
            </a:r>
          </a:p>
        </p:txBody>
      </p:sp>
      <p:sp>
        <p:nvSpPr>
          <p:cNvPr id="3" name="title-2">
            <a:extLst xmlns:a="http://schemas.openxmlformats.org/drawingml/2006/main">
              <a:ext uri="{FF2B5EF4-FFF2-40B4-BE49-F238E27FC236}">
                <a16:creationId xmlns:a16="http://schemas.microsoft.com/office/drawing/2014/main" id="{D7F86326-230D-421D-BD43-94880B488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3919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75" b="1">
                <a:solidFill>
                  <a:srgbClr val="000000"/>
                </a:solidFill>
              </a:defRPr>
            </a:pPr>
            <a:r>
              <a:rPr sz="3375" b="1">
                <a:solidFill>
                  <a:srgbClr val="000000"/>
                </a:solidFill>
              </a:rPr>
              <a:t>A one-line change. Three weeks later.</a:t>
            </a:r>
          </a:p>
        </p:txBody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E6436BFC-EA4F-4AA4-8766-D12BE2633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647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E6269"/>
                </a:solidFill>
              </a:defRPr>
            </a:pPr>
            <a:r>
              <a:rPr sz="975" b="0">
                <a:solidFill>
                  <a:srgbClr val="5E6269"/>
                </a:solidFill>
              </a:rPr>
              <a:t>2</a:t>
            </a:r>
          </a:p>
        </p:txBody>
      </p:sp>
      <p:sp>
        <p:nvSpPr>
          <p:cNvPr id="5" name="code-line-panel">
            <a:extLst xmlns:a="http://schemas.openxmlformats.org/drawingml/2006/main">
              <a:ext uri="{FF2B5EF4-FFF2-40B4-BE49-F238E27FC236}">
                <a16:creationId xmlns:a16="http://schemas.microsoft.com/office/drawing/2014/main" id="{1837E300-B23E-4F28-AB38-5BFFD4886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4953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one-line">
            <a:extLst xmlns:a="http://schemas.openxmlformats.org/drawingml/2006/main">
              <a:ext uri="{FF2B5EF4-FFF2-40B4-BE49-F238E27FC236}">
                <a16:creationId xmlns:a16="http://schemas.microsoft.com/office/drawing/2014/main" id="{910022F0-69F4-458B-AAB6-27F225686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428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3D8DFF"/>
                </a:solidFill>
              </a:defRPr>
            </a:pPr>
            <a:r>
              <a:rPr sz="2925" b="1">
                <a:solidFill>
                  <a:srgbClr val="3D8DFF"/>
                </a:solidFill>
              </a:rPr>
              <a:t>if (ready) ship();</a:t>
            </a:r>
          </a:p>
        </p:txBody>
      </p:sp>
      <p:sp>
        <p:nvSpPr>
          <p:cNvPr id="7" name="afternoon">
            <a:extLst xmlns:a="http://schemas.openxmlformats.org/drawingml/2006/main">
              <a:ext uri="{FF2B5EF4-FFF2-40B4-BE49-F238E27FC236}">
                <a16:creationId xmlns:a16="http://schemas.microsoft.com/office/drawing/2014/main" id="{0D62B9C8-ACC6-44C7-BAA3-B0936FA1B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1431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E6269"/>
                </a:solidFill>
              </a:defRPr>
            </a:pPr>
            <a:r>
              <a:rPr sz="1350" b="1">
                <a:solidFill>
                  <a:srgbClr val="5E6269"/>
                </a:solidFill>
              </a:rPr>
              <a:t>AN AFTERNOON, TOPS</a:t>
            </a:r>
          </a:p>
        </p:txBody>
      </p:sp>
      <p:sp>
        <p:nvSpPr>
          <p:cNvPr id="8" name="timeline-rule">
            <a:extLst xmlns:a="http://schemas.openxmlformats.org/drawingml/2006/main">
              <a:ext uri="{FF2B5EF4-FFF2-40B4-BE49-F238E27FC236}">
                <a16:creationId xmlns:a16="http://schemas.microsoft.com/office/drawing/2014/main" id="{3BD519D3-07D1-497B-B130-EB96425C5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952750"/>
            <a:ext cx="4857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imeline-start">
            <a:extLst xmlns:a="http://schemas.openxmlformats.org/drawingml/2006/main">
              <a:ext uri="{FF2B5EF4-FFF2-40B4-BE49-F238E27FC236}">
                <a16:creationId xmlns:a16="http://schemas.microsoft.com/office/drawing/2014/main" id="{623EE341-9D2E-48BF-9C53-B64BFCC7B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800350"/>
            <a:ext cx="266700" cy="3810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imeline-end">
            <a:extLst xmlns:a="http://schemas.openxmlformats.org/drawingml/2006/main">
              <a:ext uri="{FF2B5EF4-FFF2-40B4-BE49-F238E27FC236}">
                <a16:creationId xmlns:a16="http://schemas.microsoft.com/office/drawing/2014/main" id="{2025973F-D076-4BF7-A43F-76AEC0B7A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2705100"/>
            <a:ext cx="361950" cy="5524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hree-weeks">
            <a:extLst xmlns:a="http://schemas.openxmlformats.org/drawingml/2006/main">
              <a:ext uri="{FF2B5EF4-FFF2-40B4-BE49-F238E27FC236}">
                <a16:creationId xmlns:a16="http://schemas.microsoft.com/office/drawing/2014/main" id="{5E9495E8-4151-49D6-A73D-67718CFCD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76625"/>
            <a:ext cx="2047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3 WEEKS</a:t>
            </a:r>
          </a:p>
        </p:txBody>
      </p:sp>
      <p:sp>
        <p:nvSpPr>
          <p:cNvPr id="12" name="around-line">
            <a:extLst xmlns:a="http://schemas.openxmlformats.org/drawingml/2006/main">
              <a:ext uri="{FF2B5EF4-FFF2-40B4-BE49-F238E27FC236}">
                <a16:creationId xmlns:a16="http://schemas.microsoft.com/office/drawing/2014/main" id="{CA6985E9-045E-4428-B2AD-4B4E01927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012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00000"/>
                </a:solidFill>
              </a:defRPr>
            </a:pPr>
            <a:r>
              <a:rPr sz="2325" b="1">
                <a:solidFill>
                  <a:srgbClr val="000000"/>
                </a:solidFill>
              </a:rPr>
              <a:t>The line was never the whole problem. Everything around it was.</a:t>
            </a:r>
          </a:p>
        </p:txBody>
      </p:sp>
    </p:spTree>
    <p:extLst>
      <p:ext uri="{BB962C8B-B14F-4D97-AF65-F5344CB8AC3E}">
        <p14:creationId xmlns:p14="http://schemas.microsoft.com/office/powerpoint/2010/main" val="12615409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-3">
            <a:extLst xmlns:a="http://schemas.openxmlformats.org/drawingml/2006/main">
              <a:ext uri="{FF2B5EF4-FFF2-40B4-BE49-F238E27FC236}">
                <a16:creationId xmlns:a16="http://schemas.microsoft.com/office/drawing/2014/main" id="{B8B0264C-AFC9-4D78-BD2C-40FE0C5B1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3">
            <a:extLst xmlns:a="http://schemas.openxmlformats.org/drawingml/2006/main">
              <a:ext uri="{FF2B5EF4-FFF2-40B4-BE49-F238E27FC236}">
                <a16:creationId xmlns:a16="http://schemas.microsoft.com/office/drawing/2014/main" id="{3BED5E21-9604-40E5-8511-3234F52C4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28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E6269"/>
                </a:solidFill>
              </a:defRPr>
            </a:pPr>
            <a:r>
              <a:rPr sz="1350" b="1">
                <a:solidFill>
                  <a:srgbClr val="5E6269"/>
                </a:solidFill>
              </a:rPr>
              <a:t>OPENING</a:t>
            </a:r>
          </a:p>
        </p:txBody>
      </p:sp>
      <p:sp>
        <p:nvSpPr>
          <p:cNvPr id="3" name="title-3">
            <a:extLst xmlns:a="http://schemas.openxmlformats.org/drawingml/2006/main">
              <a:ext uri="{FF2B5EF4-FFF2-40B4-BE49-F238E27FC236}">
                <a16:creationId xmlns:a16="http://schemas.microsoft.com/office/drawing/2014/main" id="{6E1711B3-B624-4ADF-8B13-CEDFF92C0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3919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75" b="1">
                <a:solidFill>
                  <a:srgbClr val="000000"/>
                </a:solidFill>
              </a:defRPr>
            </a:pPr>
            <a:r>
              <a:rPr sz="3375" b="1">
                <a:solidFill>
                  <a:srgbClr val="000000"/>
                </a:solidFill>
              </a:rPr>
              <a:t>A field we already partly know</a:t>
            </a:r>
          </a:p>
        </p:txBody>
      </p:sp>
      <p:sp>
        <p:nvSpPr>
          <p:cNvPr id="4" name="source-3">
            <a:extLst xmlns:a="http://schemas.openxmlformats.org/drawingml/2006/main">
              <a:ext uri="{FF2B5EF4-FFF2-40B4-BE49-F238E27FC236}">
                <a16:creationId xmlns:a16="http://schemas.microsoft.com/office/drawing/2014/main" id="{903638A3-592A-40FA-9ACC-E6ABD587E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E6269"/>
                </a:solidFill>
              </a:defRPr>
            </a:pPr>
            <a:r>
              <a:rPr sz="900" b="0">
                <a:solidFill>
                  <a:srgbClr val="5E6269"/>
                </a:solidFill>
              </a:rPr>
              <a:t>Sources: Donella Meadows; MIT OCW 15.871</a:t>
            </a:r>
          </a:p>
        </p:txBody>
      </p:sp>
      <p:sp>
        <p:nvSpPr>
          <p:cNvPr id="5" name="page-3">
            <a:extLst xmlns:a="http://schemas.openxmlformats.org/drawingml/2006/main">
              <a:ext uri="{FF2B5EF4-FFF2-40B4-BE49-F238E27FC236}">
                <a16:creationId xmlns:a16="http://schemas.microsoft.com/office/drawing/2014/main" id="{4D8B4FB4-238C-4C24-ABEC-D73B5F024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647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E6269"/>
                </a:solidFill>
              </a:defRPr>
            </a:pPr>
            <a:r>
              <a:rPr sz="975" b="0">
                <a:solidFill>
                  <a:srgbClr val="5E6269"/>
                </a:solidFill>
              </a:rPr>
              <a:t>3</a:t>
            </a:r>
          </a:p>
        </p:txBody>
      </p:sp>
      <p:sp>
        <p:nvSpPr>
          <p:cNvPr id="6" name="domain-0">
            <a:extLst xmlns:a="http://schemas.openxmlformats.org/drawingml/2006/main">
              <a:ext uri="{FF2B5EF4-FFF2-40B4-BE49-F238E27FC236}">
                <a16:creationId xmlns:a16="http://schemas.microsoft.com/office/drawing/2014/main" id="{EE229407-73AE-4D6C-8803-3B6403FD8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2571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domain-label-0">
            <a:extLst xmlns:a="http://schemas.openxmlformats.org/drawingml/2006/main">
              <a:ext uri="{FF2B5EF4-FFF2-40B4-BE49-F238E27FC236}">
                <a16:creationId xmlns:a16="http://schemas.microsoft.com/office/drawing/2014/main" id="{583648D8-571F-4779-AE57-F1E8E87B3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76450"/>
            <a:ext cx="2266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Ecology</a:t>
            </a:r>
          </a:p>
        </p:txBody>
      </p:sp>
      <p:sp>
        <p:nvSpPr>
          <p:cNvPr id="8" name="domain-1">
            <a:extLst xmlns:a="http://schemas.openxmlformats.org/drawingml/2006/main">
              <a:ext uri="{FF2B5EF4-FFF2-40B4-BE49-F238E27FC236}">
                <a16:creationId xmlns:a16="http://schemas.microsoft.com/office/drawing/2014/main" id="{814A15C6-7422-4A04-BC73-FB285A2C6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1762125"/>
            <a:ext cx="2571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domain-label-1">
            <a:extLst xmlns:a="http://schemas.openxmlformats.org/drawingml/2006/main">
              <a:ext uri="{FF2B5EF4-FFF2-40B4-BE49-F238E27FC236}">
                <a16:creationId xmlns:a16="http://schemas.microsoft.com/office/drawing/2014/main" id="{30D48A02-2DDC-40A6-BFA5-D291179C2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076450"/>
            <a:ext cx="2266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Economies</a:t>
            </a:r>
          </a:p>
        </p:txBody>
      </p:sp>
      <p:sp>
        <p:nvSpPr>
          <p:cNvPr id="10" name="domain-2">
            <a:extLst xmlns:a="http://schemas.openxmlformats.org/drawingml/2006/main">
              <a:ext uri="{FF2B5EF4-FFF2-40B4-BE49-F238E27FC236}">
                <a16:creationId xmlns:a16="http://schemas.microsoft.com/office/drawing/2014/main" id="{FEDC9B5B-43D8-480E-9A5E-010C662C3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62125"/>
            <a:ext cx="2571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omain-label-2">
            <a:extLst xmlns:a="http://schemas.openxmlformats.org/drawingml/2006/main">
              <a:ext uri="{FF2B5EF4-FFF2-40B4-BE49-F238E27FC236}">
                <a16:creationId xmlns:a16="http://schemas.microsoft.com/office/drawing/2014/main" id="{56AA6064-9F45-4D87-8E3C-BE0F7D1FD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76450"/>
            <a:ext cx="2266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Organisations</a:t>
            </a:r>
          </a:p>
        </p:txBody>
      </p:sp>
      <p:sp>
        <p:nvSpPr>
          <p:cNvPr id="12" name="domain-3">
            <a:extLst xmlns:a="http://schemas.openxmlformats.org/drawingml/2006/main">
              <a:ext uri="{FF2B5EF4-FFF2-40B4-BE49-F238E27FC236}">
                <a16:creationId xmlns:a16="http://schemas.microsoft.com/office/drawing/2014/main" id="{F352D2F4-EEF7-46B8-BDA9-8943BC2DA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1762125"/>
            <a:ext cx="2571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domain-label-3">
            <a:extLst xmlns:a="http://schemas.openxmlformats.org/drawingml/2006/main">
              <a:ext uri="{FF2B5EF4-FFF2-40B4-BE49-F238E27FC236}">
                <a16:creationId xmlns:a16="http://schemas.microsoft.com/office/drawing/2014/main" id="{CAAAFD79-8D94-49DC-B8D7-46789F58B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076450"/>
            <a:ext cx="2266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Cities</a:t>
            </a:r>
          </a:p>
        </p:txBody>
      </p:sp>
      <p:sp>
        <p:nvSpPr>
          <p:cNvPr id="14" name="engineer-instinct">
            <a:extLst xmlns:a="http://schemas.openxmlformats.org/drawingml/2006/main">
              <a:ext uri="{FF2B5EF4-FFF2-40B4-BE49-F238E27FC236}">
                <a16:creationId xmlns:a16="http://schemas.microsoft.com/office/drawing/2014/main" id="{140F62E8-3D04-4D7E-B401-31801D35E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86125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Software engineers already trace…</a:t>
            </a:r>
          </a:p>
        </p:txBody>
      </p:sp>
      <p:sp>
        <p:nvSpPr>
          <p:cNvPr id="15" name="habit-0">
            <a:extLst xmlns:a="http://schemas.openxmlformats.org/drawingml/2006/main">
              <a:ext uri="{FF2B5EF4-FFF2-40B4-BE49-F238E27FC236}">
                <a16:creationId xmlns:a16="http://schemas.microsoft.com/office/drawing/2014/main" id="{65AECE00-9F4B-4E66-A2DA-E43BCE912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48125"/>
            <a:ext cx="2381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dependencies</a:t>
            </a:r>
          </a:p>
        </p:txBody>
      </p:sp>
      <p:sp>
        <p:nvSpPr>
          <p:cNvPr id="16" name="habit-1">
            <a:extLst xmlns:a="http://schemas.openxmlformats.org/drawingml/2006/main">
              <a:ext uri="{FF2B5EF4-FFF2-40B4-BE49-F238E27FC236}">
                <a16:creationId xmlns:a16="http://schemas.microsoft.com/office/drawing/2014/main" id="{66CD823E-6808-4E00-8031-A16FEB4CE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48125"/>
            <a:ext cx="2381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queues</a:t>
            </a:r>
          </a:p>
        </p:txBody>
      </p:sp>
      <p:sp>
        <p:nvSpPr>
          <p:cNvPr id="17" name="habit-2">
            <a:extLst xmlns:a="http://schemas.openxmlformats.org/drawingml/2006/main">
              <a:ext uri="{FF2B5EF4-FFF2-40B4-BE49-F238E27FC236}">
                <a16:creationId xmlns:a16="http://schemas.microsoft.com/office/drawing/2014/main" id="{2D47DE9F-8FFB-4D0D-8411-F21FEB991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048125"/>
            <a:ext cx="2381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feedback</a:t>
            </a:r>
          </a:p>
        </p:txBody>
      </p:sp>
      <p:sp>
        <p:nvSpPr>
          <p:cNvPr id="18" name="opening-land">
            <a:extLst xmlns:a="http://schemas.openxmlformats.org/drawingml/2006/main">
              <a:ext uri="{FF2B5EF4-FFF2-40B4-BE49-F238E27FC236}">
                <a16:creationId xmlns:a16="http://schemas.microsoft.com/office/drawing/2014/main" id="{2FD47655-F6C8-41E9-9D86-5F5B1C0C6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863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Formal systems thinking gives us useful names—and a wider boundary.</a:t>
            </a:r>
          </a:p>
        </p:txBody>
      </p:sp>
    </p:spTree>
    <p:extLst>
      <p:ext uri="{BB962C8B-B14F-4D97-AF65-F5344CB8AC3E}">
        <p14:creationId xmlns:p14="http://schemas.microsoft.com/office/powerpoint/2010/main" val="2685601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-4">
            <a:extLst xmlns:a="http://schemas.openxmlformats.org/drawingml/2006/main">
              <a:ext uri="{FF2B5EF4-FFF2-40B4-BE49-F238E27FC236}">
                <a16:creationId xmlns:a16="http://schemas.microsoft.com/office/drawing/2014/main" id="{A3735F03-77F7-4DF9-877D-994B772DC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4">
            <a:extLst xmlns:a="http://schemas.openxmlformats.org/drawingml/2006/main">
              <a:ext uri="{FF2B5EF4-FFF2-40B4-BE49-F238E27FC236}">
                <a16:creationId xmlns:a16="http://schemas.microsoft.com/office/drawing/2014/main" id="{99FB6F63-D99F-45E2-9C1E-78CA2B57B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28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E6269"/>
                </a:solidFill>
              </a:defRPr>
            </a:pPr>
            <a:r>
              <a:rPr sz="1350" b="1">
                <a:solidFill>
                  <a:srgbClr val="5E6269"/>
                </a:solidFill>
              </a:rPr>
              <a:t>OPENING</a:t>
            </a:r>
          </a:p>
        </p:txBody>
      </p:sp>
      <p:sp>
        <p:nvSpPr>
          <p:cNvPr id="3" name="title-4">
            <a:extLst xmlns:a="http://schemas.openxmlformats.org/drawingml/2006/main">
              <a:ext uri="{FF2B5EF4-FFF2-40B4-BE49-F238E27FC236}">
                <a16:creationId xmlns:a16="http://schemas.microsoft.com/office/drawing/2014/main" id="{FB1A40E8-515B-4A0D-80EC-2F038E494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3919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75" b="1">
                <a:solidFill>
                  <a:srgbClr val="000000"/>
                </a:solidFill>
              </a:defRPr>
            </a:pPr>
            <a:r>
              <a:rPr sz="3375" b="1">
                <a:solidFill>
                  <a:srgbClr val="000000"/>
                </a:solidFill>
              </a:rPr>
              <a:t>Keep following the effect</a:t>
            </a:r>
          </a:p>
        </p:txBody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C9D342C4-5199-4800-B9C7-54A23B9FC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647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E6269"/>
                </a:solidFill>
              </a:defRPr>
            </a:pPr>
            <a:r>
              <a:rPr sz="975" b="0">
                <a:solidFill>
                  <a:srgbClr val="5E6269"/>
                </a:solidFill>
              </a:rPr>
              <a:t>4</a:t>
            </a:r>
          </a:p>
        </p:txBody>
      </p:sp>
      <p:sp>
        <p:nvSpPr>
          <p:cNvPr id="5" name="journey-0">
            <a:extLst xmlns:a="http://schemas.openxmlformats.org/drawingml/2006/main">
              <a:ext uri="{FF2B5EF4-FFF2-40B4-BE49-F238E27FC236}">
                <a16:creationId xmlns:a16="http://schemas.microsoft.com/office/drawing/2014/main" id="{3F633043-EDCB-4DC1-AE45-1BA704F8A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0"/>
            <a:ext cx="17907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Code</a:t>
            </a:r>
          </a:p>
        </p:txBody>
      </p:sp>
      <p:sp>
        <p:nvSpPr>
          <p:cNvPr id="6" name="journey-1">
            <a:extLst xmlns:a="http://schemas.openxmlformats.org/drawingml/2006/main">
              <a:ext uri="{FF2B5EF4-FFF2-40B4-BE49-F238E27FC236}">
                <a16:creationId xmlns:a16="http://schemas.microsoft.com/office/drawing/2014/main" id="{587E8672-80FD-4BE9-B758-C0DA6E438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857500"/>
            <a:ext cx="17907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Delivery</a:t>
            </a:r>
          </a:p>
        </p:txBody>
      </p:sp>
      <p:sp>
        <p:nvSpPr>
          <p:cNvPr id="7" name="journey-2">
            <a:extLst xmlns:a="http://schemas.openxmlformats.org/drawingml/2006/main">
              <a:ext uri="{FF2B5EF4-FFF2-40B4-BE49-F238E27FC236}">
                <a16:creationId xmlns:a16="http://schemas.microsoft.com/office/drawing/2014/main" id="{485CB0F6-C291-4623-A372-5C979E8DE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857500"/>
            <a:ext cx="17907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AI</a:t>
            </a:r>
          </a:p>
        </p:txBody>
      </p:sp>
      <p:sp>
        <p:nvSpPr>
          <p:cNvPr id="8" name="journey-3">
            <a:extLst xmlns:a="http://schemas.openxmlformats.org/drawingml/2006/main">
              <a:ext uri="{FF2B5EF4-FFF2-40B4-BE49-F238E27FC236}">
                <a16:creationId xmlns:a16="http://schemas.microsoft.com/office/drawing/2014/main" id="{323B4F4C-E6B7-4F16-B6E4-AC9C96996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57500"/>
            <a:ext cx="17907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Product</a:t>
            </a:r>
          </a:p>
        </p:txBody>
      </p:sp>
      <p:sp>
        <p:nvSpPr>
          <p:cNvPr id="9" name="journey-4">
            <a:extLst xmlns:a="http://schemas.openxmlformats.org/drawingml/2006/main">
              <a:ext uri="{FF2B5EF4-FFF2-40B4-BE49-F238E27FC236}">
                <a16:creationId xmlns:a16="http://schemas.microsoft.com/office/drawing/2014/main" id="{D0C43AB6-D410-4C5F-BA12-BD3771633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857500"/>
            <a:ext cx="17907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People</a:t>
            </a:r>
          </a:p>
        </p:txBody>
      </p:sp>
      <p:cxnSp>
        <p:nvCxnSpPr>
          <p:cNvPr id="38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190750" y="3295650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  <a:tailEnd type="triangle" w="med" len="med"/>
          </a:ln>
        </p:spPr>
      </p:cxnSp>
      <p:cxnSp>
        <p:nvCxnSpPr>
          <p:cNvPr id="39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476750" y="3295650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  <a:tailEnd type="triangle" w="med" len="med"/>
          </a:ln>
        </p:spPr>
      </p:cxnSp>
      <p:cxnSp>
        <p:nvCxnSpPr>
          <p:cNvPr id="40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762750" y="3295650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  <a:tailEnd type="triangle" w="med" len="med"/>
          </a:ln>
        </p:spPr>
      </p:cxnSp>
      <p:cxnSp>
        <p:nvCxnSpPr>
          <p:cNvPr id="41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048750" y="3295650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  <a:tailEnd type="triangle" w="med" len="med"/>
          </a:ln>
        </p:spPr>
      </p:cxnSp>
      <p:sp>
        <p:nvSpPr>
          <p:cNvPr id="14" name="journey-definition">
            <a:extLst xmlns:a="http://schemas.openxmlformats.org/drawingml/2006/main">
              <a:ext uri="{FF2B5EF4-FFF2-40B4-BE49-F238E27FC236}">
                <a16:creationId xmlns:a16="http://schemas.microsoft.com/office/drawing/2014/main" id="{B3625B8A-B82D-4C74-BBC9-E7389F8A6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2912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Different tool each time. Same move: do not stop tracing too early.</a:t>
            </a:r>
          </a:p>
        </p:txBody>
      </p:sp>
      <p:sp>
        <p:nvSpPr>
          <p:cNvPr id="15" name="journey-note">
            <a:extLst xmlns:a="http://schemas.openxmlformats.org/drawingml/2006/main">
              <a:ext uri="{FF2B5EF4-FFF2-40B4-BE49-F238E27FC236}">
                <a16:creationId xmlns:a16="http://schemas.microsoft.com/office/drawing/2014/main" id="{6D5672C4-1E63-4C7F-A9BB-AB4AA27AF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91125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5E6269"/>
                </a:solidFill>
              </a:defRPr>
            </a:pPr>
            <a:r>
              <a:rPr sz="1725" b="1">
                <a:solidFill>
                  <a:srgbClr val="5E6269"/>
                </a:solidFill>
              </a:rPr>
              <a:t>The vocabulary is not the test.</a:t>
            </a:r>
          </a:p>
        </p:txBody>
      </p:sp>
    </p:spTree>
    <p:extLst>
      <p:ext uri="{BB962C8B-B14F-4D97-AF65-F5344CB8AC3E}">
        <p14:creationId xmlns:p14="http://schemas.microsoft.com/office/powerpoint/2010/main" val="12683371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-5">
            <a:extLst xmlns:a="http://schemas.openxmlformats.org/drawingml/2006/main">
              <a:ext uri="{FF2B5EF4-FFF2-40B4-BE49-F238E27FC236}">
                <a16:creationId xmlns:a16="http://schemas.microsoft.com/office/drawing/2014/main" id="{6786F1AE-3E30-4D30-9903-0A5CC067A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5">
            <a:extLst xmlns:a="http://schemas.openxmlformats.org/drawingml/2006/main">
              <a:ext uri="{FF2B5EF4-FFF2-40B4-BE49-F238E27FC236}">
                <a16:creationId xmlns:a16="http://schemas.microsoft.com/office/drawing/2014/main" id="{5035CB25-2B23-4284-BC2E-652E6E556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28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E6269"/>
                </a:solidFill>
              </a:defRPr>
            </a:pPr>
            <a:r>
              <a:rPr sz="1350" b="1">
                <a:solidFill>
                  <a:srgbClr val="5E6269"/>
                </a:solidFill>
              </a:rPr>
              <a:t>CODE · NAME IT</a:t>
            </a:r>
          </a:p>
        </p:txBody>
      </p:sp>
      <p:sp>
        <p:nvSpPr>
          <p:cNvPr id="3" name="title-5">
            <a:extLst xmlns:a="http://schemas.openxmlformats.org/drawingml/2006/main">
              <a:ext uri="{FF2B5EF4-FFF2-40B4-BE49-F238E27FC236}">
                <a16:creationId xmlns:a16="http://schemas.microsoft.com/office/drawing/2014/main" id="{45B4899E-E239-4035-9A8F-376C2D5E8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3919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75" b="1">
                <a:solidFill>
                  <a:srgbClr val="000000"/>
                </a:solidFill>
              </a:defRPr>
            </a:pPr>
            <a:r>
              <a:rPr sz="3375" b="1">
                <a:solidFill>
                  <a:srgbClr val="000000"/>
                </a:solidFill>
              </a:rPr>
              <a:t>Feedback loops</a:t>
            </a:r>
          </a:p>
        </p:txBody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4FD93CEF-BC09-4B93-B251-6BE5915B8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647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E6269"/>
                </a:solidFill>
              </a:defRPr>
            </a:pPr>
            <a:r>
              <a:rPr sz="975" b="0">
                <a:solidFill>
                  <a:srgbClr val="5E6269"/>
                </a:solidFill>
              </a:rPr>
              <a:t>5</a:t>
            </a:r>
          </a:p>
        </p:txBody>
      </p:sp>
      <p:sp>
        <p:nvSpPr>
          <p:cNvPr id="5" name="progress-5-0">
            <a:extLst xmlns:a="http://schemas.openxmlformats.org/drawingml/2006/main">
              <a:ext uri="{FF2B5EF4-FFF2-40B4-BE49-F238E27FC236}">
                <a16:creationId xmlns:a16="http://schemas.microsoft.com/office/drawing/2014/main" id="{D83B0080-9676-46DB-850F-3EAE61D89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66700"/>
            <a:ext cx="6858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Code</a:t>
            </a:r>
          </a:p>
        </p:txBody>
      </p:sp>
      <p:sp>
        <p:nvSpPr>
          <p:cNvPr id="6" name="progress-5-1">
            <a:extLst xmlns:a="http://schemas.openxmlformats.org/drawingml/2006/main">
              <a:ext uri="{FF2B5EF4-FFF2-40B4-BE49-F238E27FC236}">
                <a16:creationId xmlns:a16="http://schemas.microsoft.com/office/drawing/2014/main" id="{6906532D-3BF5-46D2-B55F-13C04C677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66700"/>
            <a:ext cx="6858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5E6269"/>
                </a:solidFill>
              </a:defRPr>
            </a:pPr>
            <a:r>
              <a:rPr sz="825" b="1">
                <a:solidFill>
                  <a:srgbClr val="5E6269"/>
                </a:solidFill>
              </a:rPr>
              <a:t>Delivery</a:t>
            </a:r>
          </a:p>
        </p:txBody>
      </p:sp>
      <p:sp>
        <p:nvSpPr>
          <p:cNvPr id="7" name="progress-5-2">
            <a:extLst xmlns:a="http://schemas.openxmlformats.org/drawingml/2006/main">
              <a:ext uri="{FF2B5EF4-FFF2-40B4-BE49-F238E27FC236}">
                <a16:creationId xmlns:a16="http://schemas.microsoft.com/office/drawing/2014/main" id="{16225A5B-7CDF-42B3-93F4-6C98001EC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266700"/>
            <a:ext cx="6858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5E6269"/>
                </a:solidFill>
              </a:defRPr>
            </a:pPr>
            <a:r>
              <a:rPr sz="825" b="1">
                <a:solidFill>
                  <a:srgbClr val="5E6269"/>
                </a:solidFill>
              </a:rPr>
              <a:t>AI</a:t>
            </a:r>
          </a:p>
        </p:txBody>
      </p:sp>
      <p:sp>
        <p:nvSpPr>
          <p:cNvPr id="8" name="progress-5-3">
            <a:extLst xmlns:a="http://schemas.openxmlformats.org/drawingml/2006/main">
              <a:ext uri="{FF2B5EF4-FFF2-40B4-BE49-F238E27FC236}">
                <a16:creationId xmlns:a16="http://schemas.microsoft.com/office/drawing/2014/main" id="{C7743283-6A91-4BDB-B12E-A615CC140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266700"/>
            <a:ext cx="6858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5E6269"/>
                </a:solidFill>
              </a:defRPr>
            </a:pPr>
            <a:r>
              <a:rPr sz="825" b="1">
                <a:solidFill>
                  <a:srgbClr val="5E6269"/>
                </a:solidFill>
              </a:rPr>
              <a:t>Product</a:t>
            </a:r>
          </a:p>
        </p:txBody>
      </p:sp>
      <p:sp>
        <p:nvSpPr>
          <p:cNvPr id="9" name="progress-5-4">
            <a:extLst xmlns:a="http://schemas.openxmlformats.org/drawingml/2006/main">
              <a:ext uri="{FF2B5EF4-FFF2-40B4-BE49-F238E27FC236}">
                <a16:creationId xmlns:a16="http://schemas.microsoft.com/office/drawing/2014/main" id="{A23924F3-F155-4B7A-8545-13FB859E8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2325" y="266700"/>
            <a:ext cx="6858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5E6269"/>
                </a:solidFill>
              </a:defRPr>
            </a:pPr>
            <a:r>
              <a:rPr sz="825" b="1">
                <a:solidFill>
                  <a:srgbClr val="5E6269"/>
                </a:solidFill>
              </a:rPr>
              <a:t>People</a:t>
            </a:r>
          </a:p>
        </p:txBody>
      </p:sp>
      <p:sp>
        <p:nvSpPr>
          <p:cNvPr id="10" name="feedback-definition">
            <a:extLst xmlns:a="http://schemas.openxmlformats.org/drawingml/2006/main">
              <a:ext uri="{FF2B5EF4-FFF2-40B4-BE49-F238E27FC236}">
                <a16:creationId xmlns:a16="http://schemas.microsoft.com/office/drawing/2014/main" id="{C7D5A78B-3CA6-474D-A238-FD26FC361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9906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000000"/>
                </a:solidFill>
              </a:defRPr>
            </a:pPr>
            <a:r>
              <a:rPr sz="4350" b="1">
                <a:solidFill>
                  <a:srgbClr val="000000"/>
                </a:solidFill>
              </a:rPr>
              <a:t>The result comes back</a:t>
            </a:r>
          </a:p>
          <a:p xmlns:a="http://schemas.openxmlformats.org/drawingml/2006/main">
            <a:pPr algn="l">
              <a:buNone/>
              <a:defRPr sz="4350" b="1">
                <a:solidFill>
                  <a:srgbClr val="000000"/>
                </a:solidFill>
              </a:defRPr>
            </a:pPr>
            <a:r>
              <a:rPr sz="4350" b="1">
                <a:solidFill>
                  <a:srgbClr val="000000"/>
                </a:solidFill>
              </a:rPr>
              <a:t>and affects what happens next.</a:t>
            </a:r>
          </a:p>
        </p:txBody>
      </p:sp>
      <p:sp>
        <p:nvSpPr>
          <p:cNvPr id="11" name="feedback-highlight">
            <a:extLst xmlns:a="http://schemas.openxmlformats.org/drawingml/2006/main">
              <a:ext uri="{FF2B5EF4-FFF2-40B4-BE49-F238E27FC236}">
                <a16:creationId xmlns:a16="http://schemas.microsoft.com/office/drawing/2014/main" id="{99A3C233-C857-4B2E-BCD1-E18B4B60D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24375"/>
            <a:ext cx="7239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eedback-small">
            <a:extLst xmlns:a="http://schemas.openxmlformats.org/drawingml/2006/main">
              <a:ext uri="{FF2B5EF4-FFF2-40B4-BE49-F238E27FC236}">
                <a16:creationId xmlns:a16="http://schemas.microsoft.com/office/drawing/2014/main" id="{96741959-E0D1-4953-B0BF-8D1FE84B7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57750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E6269"/>
                </a:solidFill>
              </a:defRPr>
            </a:pPr>
            <a:r>
              <a:rPr sz="1875" b="0">
                <a:solidFill>
                  <a:srgbClr val="5E6269"/>
                </a:solidFill>
              </a:rPr>
              <a:t>Plain idea first. Formal name when the behaviour is visible.</a:t>
            </a:r>
          </a:p>
        </p:txBody>
      </p:sp>
    </p:spTree>
    <p:extLst>
      <p:ext uri="{BB962C8B-B14F-4D97-AF65-F5344CB8AC3E}">
        <p14:creationId xmlns:p14="http://schemas.microsoft.com/office/powerpoint/2010/main" val="9413779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-6">
            <a:extLst xmlns:a="http://schemas.openxmlformats.org/drawingml/2006/main">
              <a:ext uri="{FF2B5EF4-FFF2-40B4-BE49-F238E27FC236}">
                <a16:creationId xmlns:a16="http://schemas.microsoft.com/office/drawing/2014/main" id="{5B4147CE-2AA6-4A97-BB09-5D626ADB3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6">
            <a:extLst xmlns:a="http://schemas.openxmlformats.org/drawingml/2006/main">
              <a:ext uri="{FF2B5EF4-FFF2-40B4-BE49-F238E27FC236}">
                <a16:creationId xmlns:a16="http://schemas.microsoft.com/office/drawing/2014/main" id="{85E89168-1465-4C8B-A6FD-843E99DF7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28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E6269"/>
                </a:solidFill>
              </a:defRPr>
            </a:pPr>
            <a:r>
              <a:rPr sz="1350" b="1">
                <a:solidFill>
                  <a:srgbClr val="5E6269"/>
                </a:solidFill>
              </a:rPr>
              <a:t>CODE · RECOGNISE IT</a:t>
            </a:r>
          </a:p>
        </p:txBody>
      </p:sp>
      <p:sp>
        <p:nvSpPr>
          <p:cNvPr id="3" name="title-6">
            <a:extLst xmlns:a="http://schemas.openxmlformats.org/drawingml/2006/main">
              <a:ext uri="{FF2B5EF4-FFF2-40B4-BE49-F238E27FC236}">
                <a16:creationId xmlns:a16="http://schemas.microsoft.com/office/drawing/2014/main" id="{E6585FFF-438D-4FFE-80AA-9C5294AA0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3919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75" b="1">
                <a:solidFill>
                  <a:srgbClr val="000000"/>
                </a:solidFill>
              </a:defRPr>
            </a:pPr>
            <a:r>
              <a:rPr sz="3375" b="1">
                <a:solidFill>
                  <a:srgbClr val="000000"/>
                </a:solidFill>
              </a:rPr>
              <a:t>You have already seen a result feed itself</a:t>
            </a:r>
          </a:p>
        </p:txBody>
      </p:sp>
      <p:sp>
        <p:nvSpPr>
          <p:cNvPr id="4" name="page-6">
            <a:extLst xmlns:a="http://schemas.openxmlformats.org/drawingml/2006/main">
              <a:ext uri="{FF2B5EF4-FFF2-40B4-BE49-F238E27FC236}">
                <a16:creationId xmlns:a16="http://schemas.microsoft.com/office/drawing/2014/main" id="{AA9B6D59-A48F-454F-B7DC-D51AF2A75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647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E6269"/>
                </a:solidFill>
              </a:defRPr>
            </a:pPr>
            <a:r>
              <a:rPr sz="975" b="0">
                <a:solidFill>
                  <a:srgbClr val="5E6269"/>
                </a:solidFill>
              </a:rPr>
              <a:t>6</a:t>
            </a:r>
          </a:p>
        </p:txBody>
      </p:sp>
      <p:sp>
        <p:nvSpPr>
          <p:cNvPr id="5" name="progress-6-0">
            <a:extLst xmlns:a="http://schemas.openxmlformats.org/drawingml/2006/main">
              <a:ext uri="{FF2B5EF4-FFF2-40B4-BE49-F238E27FC236}">
                <a16:creationId xmlns:a16="http://schemas.microsoft.com/office/drawing/2014/main" id="{B5E6872A-D5D9-4B0F-AA98-FF4E2A7AD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66700"/>
            <a:ext cx="6858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Code</a:t>
            </a:r>
          </a:p>
        </p:txBody>
      </p:sp>
      <p:sp>
        <p:nvSpPr>
          <p:cNvPr id="6" name="progress-6-1">
            <a:extLst xmlns:a="http://schemas.openxmlformats.org/drawingml/2006/main">
              <a:ext uri="{FF2B5EF4-FFF2-40B4-BE49-F238E27FC236}">
                <a16:creationId xmlns:a16="http://schemas.microsoft.com/office/drawing/2014/main" id="{9C356622-30E8-4404-826B-DAB478E6A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66700"/>
            <a:ext cx="6858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5E6269"/>
                </a:solidFill>
              </a:defRPr>
            </a:pPr>
            <a:r>
              <a:rPr sz="825" b="1">
                <a:solidFill>
                  <a:srgbClr val="5E6269"/>
                </a:solidFill>
              </a:rPr>
              <a:t>Delivery</a:t>
            </a:r>
          </a:p>
        </p:txBody>
      </p:sp>
      <p:sp>
        <p:nvSpPr>
          <p:cNvPr id="7" name="progress-6-2">
            <a:extLst xmlns:a="http://schemas.openxmlformats.org/drawingml/2006/main">
              <a:ext uri="{FF2B5EF4-FFF2-40B4-BE49-F238E27FC236}">
                <a16:creationId xmlns:a16="http://schemas.microsoft.com/office/drawing/2014/main" id="{FC403413-21E1-4747-8F43-4E39B8A2E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266700"/>
            <a:ext cx="6858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5E6269"/>
                </a:solidFill>
              </a:defRPr>
            </a:pPr>
            <a:r>
              <a:rPr sz="825" b="1">
                <a:solidFill>
                  <a:srgbClr val="5E6269"/>
                </a:solidFill>
              </a:rPr>
              <a:t>AI</a:t>
            </a:r>
          </a:p>
        </p:txBody>
      </p:sp>
      <p:sp>
        <p:nvSpPr>
          <p:cNvPr id="8" name="progress-6-3">
            <a:extLst xmlns:a="http://schemas.openxmlformats.org/drawingml/2006/main">
              <a:ext uri="{FF2B5EF4-FFF2-40B4-BE49-F238E27FC236}">
                <a16:creationId xmlns:a16="http://schemas.microsoft.com/office/drawing/2014/main" id="{DFCE95F6-565D-4375-9E53-12FE3AB29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266700"/>
            <a:ext cx="6858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5E6269"/>
                </a:solidFill>
              </a:defRPr>
            </a:pPr>
            <a:r>
              <a:rPr sz="825" b="1">
                <a:solidFill>
                  <a:srgbClr val="5E6269"/>
                </a:solidFill>
              </a:rPr>
              <a:t>Product</a:t>
            </a:r>
          </a:p>
        </p:txBody>
      </p:sp>
      <p:sp>
        <p:nvSpPr>
          <p:cNvPr id="9" name="progress-6-4">
            <a:extLst xmlns:a="http://schemas.openxmlformats.org/drawingml/2006/main">
              <a:ext uri="{FF2B5EF4-FFF2-40B4-BE49-F238E27FC236}">
                <a16:creationId xmlns:a16="http://schemas.microsoft.com/office/drawing/2014/main" id="{D869C8F0-96D0-47CC-9173-57B74579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2325" y="266700"/>
            <a:ext cx="6858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5E6269"/>
                </a:solidFill>
              </a:defRPr>
            </a:pPr>
            <a:r>
              <a:rPr sz="825" b="1">
                <a:solidFill>
                  <a:srgbClr val="5E6269"/>
                </a:solidFill>
              </a:rPr>
              <a:t>People</a:t>
            </a:r>
          </a:p>
        </p:txBody>
      </p:sp>
      <p:sp>
        <p:nvSpPr>
          <p:cNvPr id="10" name="fork-panel">
            <a:extLst xmlns:a="http://schemas.openxmlformats.org/drawingml/2006/main">
              <a:ext uri="{FF2B5EF4-FFF2-40B4-BE49-F238E27FC236}">
                <a16:creationId xmlns:a16="http://schemas.microsoft.com/office/drawing/2014/main" id="{8FFEA55D-AED3-4105-90A7-F2018D7A4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0"/>
            <a:ext cx="538162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fork-title">
            <a:extLst xmlns:a="http://schemas.openxmlformats.org/drawingml/2006/main">
              <a:ext uri="{FF2B5EF4-FFF2-40B4-BE49-F238E27FC236}">
                <a16:creationId xmlns:a16="http://schemas.microsoft.com/office/drawing/2014/main" id="{293D1A54-86B4-4E78-B7FB-AD202AD5C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Fork bomb</a:t>
            </a:r>
          </a:p>
        </p:txBody>
      </p:sp>
      <p:sp>
        <p:nvSpPr>
          <p:cNvPr id="12" name="fork-dot-0">
            <a:extLst xmlns:a="http://schemas.openxmlformats.org/drawingml/2006/main">
              <a:ext uri="{FF2B5EF4-FFF2-40B4-BE49-F238E27FC236}">
                <a16:creationId xmlns:a16="http://schemas.microsoft.com/office/drawing/2014/main" id="{F520927E-02FA-4AC3-ABD4-76175061D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9090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ork-dot-1">
            <a:extLst xmlns:a="http://schemas.openxmlformats.org/drawingml/2006/main">
              <a:ext uri="{FF2B5EF4-FFF2-40B4-BE49-F238E27FC236}">
                <a16:creationId xmlns:a16="http://schemas.microsoft.com/office/drawing/2014/main" id="{4D7B057C-D448-4353-9E42-2A60E5398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343275"/>
            <a:ext cx="2667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ork-dot-2">
            <a:extLst xmlns:a="http://schemas.openxmlformats.org/drawingml/2006/main">
              <a:ext uri="{FF2B5EF4-FFF2-40B4-BE49-F238E27FC236}">
                <a16:creationId xmlns:a16="http://schemas.microsoft.com/office/drawing/2014/main" id="{8B625B7D-F81B-4589-A41D-F2186F88F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766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fork-dot-3">
            <a:extLst xmlns:a="http://schemas.openxmlformats.org/drawingml/2006/main">
              <a:ext uri="{FF2B5EF4-FFF2-40B4-BE49-F238E27FC236}">
                <a16:creationId xmlns:a16="http://schemas.microsoft.com/office/drawing/2014/main" id="{7A2A7229-4C8D-4293-BF24-645531808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181350"/>
            <a:ext cx="5905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ork-seq">
            <a:extLst xmlns:a="http://schemas.openxmlformats.org/drawingml/2006/main">
              <a:ext uri="{FF2B5EF4-FFF2-40B4-BE49-F238E27FC236}">
                <a16:creationId xmlns:a16="http://schemas.microsoft.com/office/drawing/2014/main" id="{20DDA236-6388-418E-8097-587114436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33875"/>
            <a:ext cx="419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5E6269"/>
                </a:solidFill>
              </a:defRPr>
            </a:pPr>
            <a:r>
              <a:rPr sz="1875" b="0">
                <a:solidFill>
                  <a:srgbClr val="5E6269"/>
                </a:solidFill>
              </a:rPr>
              <a:t>1     2      4       8…</a:t>
            </a:r>
          </a:p>
        </p:txBody>
      </p:sp>
      <p:sp>
        <p:nvSpPr>
          <p:cNvPr id="17" name="render-panel">
            <a:extLst xmlns:a="http://schemas.openxmlformats.org/drawingml/2006/main">
              <a:ext uri="{FF2B5EF4-FFF2-40B4-BE49-F238E27FC236}">
                <a16:creationId xmlns:a16="http://schemas.microsoft.com/office/drawing/2014/main" id="{B44397BB-54E4-4B32-9736-0AF4DDD61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05000"/>
            <a:ext cx="56959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render-title">
            <a:extLst xmlns:a="http://schemas.openxmlformats.org/drawingml/2006/main">
              <a:ext uri="{FF2B5EF4-FFF2-40B4-BE49-F238E27FC236}">
                <a16:creationId xmlns:a16="http://schemas.microsoft.com/office/drawing/2014/main" id="{7F6E5D94-C055-42AD-81D4-771255EE8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90750"/>
            <a:ext cx="342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Infinite re-render</a:t>
            </a:r>
          </a:p>
        </p:txBody>
      </p:sp>
      <p:sp>
        <p:nvSpPr>
          <p:cNvPr id="19" name="render-node">
            <a:extLst xmlns:a="http://schemas.openxmlformats.org/drawingml/2006/main">
              <a:ext uri="{FF2B5EF4-FFF2-40B4-BE49-F238E27FC236}">
                <a16:creationId xmlns:a16="http://schemas.microsoft.com/office/drawing/2014/main" id="{7389723B-B68C-4053-B3E8-0602DFF82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38500"/>
            <a:ext cx="17145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Render</a:t>
            </a:r>
          </a:p>
        </p:txBody>
      </p:sp>
      <p:sp>
        <p:nvSpPr>
          <p:cNvPr id="20" name="state-node">
            <a:extLst xmlns:a="http://schemas.openxmlformats.org/drawingml/2006/main">
              <a:ext uri="{FF2B5EF4-FFF2-40B4-BE49-F238E27FC236}">
                <a16:creationId xmlns:a16="http://schemas.microsoft.com/office/drawing/2014/main" id="{05B022B1-0ACE-47CF-9CC9-C8DD63E11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238500"/>
            <a:ext cx="18097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State changes</a:t>
            </a:r>
          </a:p>
        </p:txBody>
      </p:sp>
      <p:cxnSp>
        <p:nvCxnSpPr>
          <p:cNvPr id="65" name=""/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8286750" y="3638550"/>
            <a:ext cx="11906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  <a:tailEnd type="triangle" w="med" len="med"/>
          </a:ln>
        </p:spPr>
      </p:cxnSp>
      <p:cxnSp>
        <p:nvCxnSpPr>
          <p:cNvPr id="66" name=""/>
          <p:cNvCxnSpPr>
            <a:stCxn xmlns:a="http://schemas.openxmlformats.org/drawingml/2006/main" id="20" idx="2"/>
            <a:endCxn xmlns:a="http://schemas.openxmlformats.org/drawingml/2006/main" id="19" idx="2"/>
          </p:cNvCxnSpPr>
          <p:nvPr/>
        </p:nvCxnSpPr>
        <p:spPr>
          <a:xfrm xmlns:a="http://schemas.openxmlformats.org/drawingml/2006/main" flipH="1">
            <a:off x="7429500" y="4038600"/>
            <a:ext cx="2952750" cy="0"/>
          </a:xfrm>
          <a:prstGeom xmlns:a="http://schemas.openxmlformats.org/drawingml/2006/main" prst="curvedConnector2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11253120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-7">
            <a:extLst xmlns:a="http://schemas.openxmlformats.org/drawingml/2006/main">
              <a:ext uri="{FF2B5EF4-FFF2-40B4-BE49-F238E27FC236}">
                <a16:creationId xmlns:a16="http://schemas.microsoft.com/office/drawing/2014/main" id="{EAB0E2E1-EAB7-488D-8913-6CEBC6C9E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7">
            <a:extLst xmlns:a="http://schemas.openxmlformats.org/drawingml/2006/main">
              <a:ext uri="{FF2B5EF4-FFF2-40B4-BE49-F238E27FC236}">
                <a16:creationId xmlns:a16="http://schemas.microsoft.com/office/drawing/2014/main" id="{F20C63A9-9460-42E0-92E0-093D58F2D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28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E6269"/>
                </a:solidFill>
              </a:defRPr>
            </a:pPr>
            <a:r>
              <a:rPr sz="1350" b="1">
                <a:solidFill>
                  <a:srgbClr val="5E6269"/>
                </a:solidFill>
              </a:rPr>
              <a:t>CODE · EXPLAIN IT</a:t>
            </a:r>
          </a:p>
        </p:txBody>
      </p:sp>
      <p:sp>
        <p:nvSpPr>
          <p:cNvPr id="3" name="title-7">
            <a:extLst xmlns:a="http://schemas.openxmlformats.org/drawingml/2006/main">
              <a:ext uri="{FF2B5EF4-FFF2-40B4-BE49-F238E27FC236}">
                <a16:creationId xmlns:a16="http://schemas.microsoft.com/office/drawing/2014/main" id="{C2DEC580-BEA9-4F27-BB73-E7525C45C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3919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75" b="1">
                <a:solidFill>
                  <a:srgbClr val="000000"/>
                </a:solidFill>
              </a:defRPr>
            </a:pPr>
            <a:r>
              <a:rPr sz="3375" b="1">
                <a:solidFill>
                  <a:srgbClr val="000000"/>
                </a:solidFill>
              </a:rPr>
              <a:t>A reasonable retry can become a reinforcing loop</a:t>
            </a:r>
          </a:p>
        </p:txBody>
      </p:sp>
      <p:sp>
        <p:nvSpPr>
          <p:cNvPr id="4" name="source-7">
            <a:extLst xmlns:a="http://schemas.openxmlformats.org/drawingml/2006/main">
              <a:ext uri="{FF2B5EF4-FFF2-40B4-BE49-F238E27FC236}">
                <a16:creationId xmlns:a16="http://schemas.microsoft.com/office/drawing/2014/main" id="{CD5AD873-6D26-4E31-A494-76385BB8B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E6269"/>
                </a:solidFill>
              </a:defRPr>
            </a:pPr>
            <a:r>
              <a:rPr sz="900" b="0">
                <a:solidFill>
                  <a:srgbClr val="5E6269"/>
                </a:solidFill>
              </a:rPr>
              <a:t>Source: Google SRE, Addressing Cascading Failures</a:t>
            </a:r>
          </a:p>
        </p:txBody>
      </p:sp>
      <p:sp>
        <p:nvSpPr>
          <p:cNvPr id="5" name="page-7">
            <a:extLst xmlns:a="http://schemas.openxmlformats.org/drawingml/2006/main">
              <a:ext uri="{FF2B5EF4-FFF2-40B4-BE49-F238E27FC236}">
                <a16:creationId xmlns:a16="http://schemas.microsoft.com/office/drawing/2014/main" id="{BA1E9AC1-78C8-412B-B709-65AC77ED8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647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E6269"/>
                </a:solidFill>
              </a:defRPr>
            </a:pPr>
            <a:r>
              <a:rPr sz="975" b="0">
                <a:solidFill>
                  <a:srgbClr val="5E6269"/>
                </a:solidFill>
              </a:rPr>
              <a:t>7</a:t>
            </a:r>
          </a:p>
        </p:txBody>
      </p:sp>
      <p:sp>
        <p:nvSpPr>
          <p:cNvPr id="6" name="progress-7-0">
            <a:extLst xmlns:a="http://schemas.openxmlformats.org/drawingml/2006/main">
              <a:ext uri="{FF2B5EF4-FFF2-40B4-BE49-F238E27FC236}">
                <a16:creationId xmlns:a16="http://schemas.microsoft.com/office/drawing/2014/main" id="{855B1093-BC3B-4865-890F-E1B059E65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66700"/>
            <a:ext cx="6858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Code</a:t>
            </a:r>
          </a:p>
        </p:txBody>
      </p:sp>
      <p:sp>
        <p:nvSpPr>
          <p:cNvPr id="7" name="progress-7-1">
            <a:extLst xmlns:a="http://schemas.openxmlformats.org/drawingml/2006/main">
              <a:ext uri="{FF2B5EF4-FFF2-40B4-BE49-F238E27FC236}">
                <a16:creationId xmlns:a16="http://schemas.microsoft.com/office/drawing/2014/main" id="{D27EC4CD-9012-4DCF-B4AC-EB05CD17F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66700"/>
            <a:ext cx="6858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5E6269"/>
                </a:solidFill>
              </a:defRPr>
            </a:pPr>
            <a:r>
              <a:rPr sz="825" b="1">
                <a:solidFill>
                  <a:srgbClr val="5E6269"/>
                </a:solidFill>
              </a:rPr>
              <a:t>Delivery</a:t>
            </a:r>
          </a:p>
        </p:txBody>
      </p:sp>
      <p:sp>
        <p:nvSpPr>
          <p:cNvPr id="8" name="progress-7-2">
            <a:extLst xmlns:a="http://schemas.openxmlformats.org/drawingml/2006/main">
              <a:ext uri="{FF2B5EF4-FFF2-40B4-BE49-F238E27FC236}">
                <a16:creationId xmlns:a16="http://schemas.microsoft.com/office/drawing/2014/main" id="{F03F811E-7BD9-49E5-9FCD-D4229C948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266700"/>
            <a:ext cx="6858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5E6269"/>
                </a:solidFill>
              </a:defRPr>
            </a:pPr>
            <a:r>
              <a:rPr sz="825" b="1">
                <a:solidFill>
                  <a:srgbClr val="5E6269"/>
                </a:solidFill>
              </a:rPr>
              <a:t>AI</a:t>
            </a:r>
          </a:p>
        </p:txBody>
      </p:sp>
      <p:sp>
        <p:nvSpPr>
          <p:cNvPr id="9" name="progress-7-3">
            <a:extLst xmlns:a="http://schemas.openxmlformats.org/drawingml/2006/main">
              <a:ext uri="{FF2B5EF4-FFF2-40B4-BE49-F238E27FC236}">
                <a16:creationId xmlns:a16="http://schemas.microsoft.com/office/drawing/2014/main" id="{8A8D8C89-A3A8-4FAF-8F05-9DFC1E6B2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266700"/>
            <a:ext cx="6858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5E6269"/>
                </a:solidFill>
              </a:defRPr>
            </a:pPr>
            <a:r>
              <a:rPr sz="825" b="1">
                <a:solidFill>
                  <a:srgbClr val="5E6269"/>
                </a:solidFill>
              </a:rPr>
              <a:t>Product</a:t>
            </a:r>
          </a:p>
        </p:txBody>
      </p:sp>
      <p:sp>
        <p:nvSpPr>
          <p:cNvPr id="10" name="progress-7-4">
            <a:extLst xmlns:a="http://schemas.openxmlformats.org/drawingml/2006/main">
              <a:ext uri="{FF2B5EF4-FFF2-40B4-BE49-F238E27FC236}">
                <a16:creationId xmlns:a16="http://schemas.microsoft.com/office/drawing/2014/main" id="{1E1539A7-F5DF-457D-85A2-7E8D0D7AF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2325" y="266700"/>
            <a:ext cx="6858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5E6269"/>
                </a:solidFill>
              </a:defRPr>
            </a:pPr>
            <a:r>
              <a:rPr sz="825" b="1">
                <a:solidFill>
                  <a:srgbClr val="5E6269"/>
                </a:solidFill>
              </a:rPr>
              <a:t>People</a:t>
            </a:r>
          </a:p>
        </p:txBody>
      </p:sp>
      <p:sp>
        <p:nvSpPr>
          <p:cNvPr id="11" name="retry-failures">
            <a:extLst xmlns:a="http://schemas.openxmlformats.org/drawingml/2006/main">
              <a:ext uri="{FF2B5EF4-FFF2-40B4-BE49-F238E27FC236}">
                <a16:creationId xmlns:a16="http://schemas.microsoft.com/office/drawing/2014/main" id="{E83BDD76-F5EB-4BAF-8798-FC858BF55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790700"/>
            <a:ext cx="31432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000000"/>
                </a:solidFill>
              </a:defRPr>
            </a:pPr>
            <a:r>
              <a:rPr sz="2175" b="1">
                <a:solidFill>
                  <a:srgbClr val="000000"/>
                </a:solidFill>
              </a:rPr>
              <a:t>More failures</a:t>
            </a:r>
          </a:p>
        </p:txBody>
      </p:sp>
      <p:sp>
        <p:nvSpPr>
          <p:cNvPr id="12" name="retry-retries">
            <a:extLst xmlns:a="http://schemas.openxmlformats.org/drawingml/2006/main">
              <a:ext uri="{FF2B5EF4-FFF2-40B4-BE49-F238E27FC236}">
                <a16:creationId xmlns:a16="http://schemas.microsoft.com/office/drawing/2014/main" id="{FB9AB3DE-BED6-4F22-87B1-0977FA0A2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714750"/>
            <a:ext cx="28575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000000"/>
                </a:solidFill>
              </a:defRPr>
            </a:pPr>
            <a:r>
              <a:rPr sz="2175" b="1">
                <a:solidFill>
                  <a:srgbClr val="000000"/>
                </a:solidFill>
              </a:rPr>
              <a:t>More retries</a:t>
            </a:r>
          </a:p>
        </p:txBody>
      </p:sp>
      <p:sp>
        <p:nvSpPr>
          <p:cNvPr id="13" name="retry-load">
            <a:extLst xmlns:a="http://schemas.openxmlformats.org/drawingml/2006/main">
              <a:ext uri="{FF2B5EF4-FFF2-40B4-BE49-F238E27FC236}">
                <a16:creationId xmlns:a16="http://schemas.microsoft.com/office/drawing/2014/main" id="{7ED86F39-7935-412D-BD3A-34C23884A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714750"/>
            <a:ext cx="28575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000000"/>
                </a:solidFill>
              </a:defRPr>
            </a:pPr>
            <a:r>
              <a:rPr sz="2175" b="1">
                <a:solidFill>
                  <a:srgbClr val="000000"/>
                </a:solidFill>
              </a:rPr>
              <a:t>More load</a:t>
            </a:r>
          </a:p>
        </p:txBody>
      </p:sp>
      <p:cxnSp>
        <p:nvCxnSpPr>
          <p:cNvPr id="49" name=""/>
          <p:cNvCxnSpPr>
            <a:stCxn xmlns:a="http://schemas.openxmlformats.org/drawingml/2006/main" id="11" idx="1"/>
            <a:endCxn xmlns:a="http://schemas.openxmlformats.org/drawingml/2006/main" id="12" idx="0"/>
          </p:cNvCxnSpPr>
          <p:nvPr/>
        </p:nvCxnSpPr>
        <p:spPr>
          <a:xfrm xmlns:a="http://schemas.openxmlformats.org/drawingml/2006/main" flipH="1">
            <a:off x="3190875" y="2200275"/>
            <a:ext cx="1343025" cy="1514475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3D8DFF"/>
            </a:solidFill>
            <a:prstDash val="solid"/>
            <a:tailEnd type="triangle" w="med" len="med"/>
          </a:ln>
        </p:spPr>
      </p:cxnSp>
      <p:cxnSp>
        <p:nvCxnSpPr>
          <p:cNvPr id="50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4619625" y="4124325"/>
            <a:ext cx="2952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3D8DFF"/>
            </a:solidFill>
            <a:prstDash val="solid"/>
            <a:tailEnd type="triangle" w="med" len="med"/>
          </a:ln>
        </p:spPr>
      </p:cxnSp>
      <p:cxnSp>
        <p:nvCxnSpPr>
          <p:cNvPr id="51" name=""/>
          <p:cNvCxnSpPr>
            <a:stCxn xmlns:a="http://schemas.openxmlformats.org/drawingml/2006/main" id="13" idx="0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 flipV="1">
            <a:off x="7677150" y="2200275"/>
            <a:ext cx="1323975" cy="1514475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3D8DFF"/>
            </a:solidFill>
            <a:prstDash val="solid"/>
            <a:tailEnd type="triangle" w="med" len="med"/>
          </a:ln>
        </p:spPr>
      </p:cxnSp>
      <p:sp>
        <p:nvSpPr>
          <p:cNvPr id="17" name="retry-formal">
            <a:extLst xmlns:a="http://schemas.openxmlformats.org/drawingml/2006/main">
              <a:ext uri="{FF2B5EF4-FFF2-40B4-BE49-F238E27FC236}">
                <a16:creationId xmlns:a16="http://schemas.microsoft.com/office/drawing/2014/main" id="{6482A2AC-578D-478A-ABF2-7BE080DAA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04800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REINFORCING FEEDBACK LOOP</a:t>
            </a:r>
          </a:p>
        </p:txBody>
      </p:sp>
      <p:sp>
        <p:nvSpPr>
          <p:cNvPr id="18" name="carry-rule-7">
            <a:extLst xmlns:a="http://schemas.openxmlformats.org/drawingml/2006/main">
              <a:ext uri="{FF2B5EF4-FFF2-40B4-BE49-F238E27FC236}">
                <a16:creationId xmlns:a16="http://schemas.microsoft.com/office/drawing/2014/main" id="{2972226A-9420-45E9-ABDC-B48FE1466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293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carry-7">
            <a:extLst xmlns:a="http://schemas.openxmlformats.org/drawingml/2006/main">
              <a:ext uri="{FF2B5EF4-FFF2-40B4-BE49-F238E27FC236}">
                <a16:creationId xmlns:a16="http://schemas.microsoft.com/office/drawing/2014/main" id="{C073A5A2-FD5F-4B7A-A770-E7BC116D8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10668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What comes back and changes what happens next?</a:t>
            </a:r>
          </a:p>
        </p:txBody>
      </p:sp>
    </p:spTree>
    <p:extLst>
      <p:ext uri="{BB962C8B-B14F-4D97-AF65-F5344CB8AC3E}">
        <p14:creationId xmlns:p14="http://schemas.microsoft.com/office/powerpoint/2010/main" val="21173509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-8">
            <a:extLst xmlns:a="http://schemas.openxmlformats.org/drawingml/2006/main">
              <a:ext uri="{FF2B5EF4-FFF2-40B4-BE49-F238E27FC236}">
                <a16:creationId xmlns:a16="http://schemas.microsoft.com/office/drawing/2014/main" id="{F935B344-5245-411C-8519-8AFAA7DD7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8">
            <a:extLst xmlns:a="http://schemas.openxmlformats.org/drawingml/2006/main">
              <a:ext uri="{FF2B5EF4-FFF2-40B4-BE49-F238E27FC236}">
                <a16:creationId xmlns:a16="http://schemas.microsoft.com/office/drawing/2014/main" id="{0A892998-DD7E-4CDA-BF58-E4FB7D5BE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28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E6269"/>
                </a:solidFill>
              </a:defRPr>
            </a:pPr>
            <a:r>
              <a:rPr sz="1350" b="1">
                <a:solidFill>
                  <a:srgbClr val="5E6269"/>
                </a:solidFill>
              </a:rPr>
              <a:t>DELIVERY · NAME IT</a:t>
            </a:r>
          </a:p>
        </p:txBody>
      </p:sp>
      <p:sp>
        <p:nvSpPr>
          <p:cNvPr id="3" name="title-8">
            <a:extLst xmlns:a="http://schemas.openxmlformats.org/drawingml/2006/main">
              <a:ext uri="{FF2B5EF4-FFF2-40B4-BE49-F238E27FC236}">
                <a16:creationId xmlns:a16="http://schemas.microsoft.com/office/drawing/2014/main" id="{D38D66F4-3359-4AD8-80F0-9FCA78740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3919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75" b="1">
                <a:solidFill>
                  <a:srgbClr val="000000"/>
                </a:solidFill>
              </a:defRPr>
            </a:pPr>
            <a:r>
              <a:rPr sz="3375" b="1">
                <a:solidFill>
                  <a:srgbClr val="000000"/>
                </a:solidFill>
              </a:rPr>
              <a:t>Stocks, flows, and delays</a:t>
            </a:r>
          </a:p>
        </p:txBody>
      </p:sp>
      <p:sp>
        <p:nvSpPr>
          <p:cNvPr id="4" name="page-8">
            <a:extLst xmlns:a="http://schemas.openxmlformats.org/drawingml/2006/main">
              <a:ext uri="{FF2B5EF4-FFF2-40B4-BE49-F238E27FC236}">
                <a16:creationId xmlns:a16="http://schemas.microsoft.com/office/drawing/2014/main" id="{A821C8E6-9098-4ED9-8CEB-3AEC658EC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647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E6269"/>
                </a:solidFill>
              </a:defRPr>
            </a:pPr>
            <a:r>
              <a:rPr sz="975" b="0">
                <a:solidFill>
                  <a:srgbClr val="5E6269"/>
                </a:solidFill>
              </a:rPr>
              <a:t>8</a:t>
            </a:r>
          </a:p>
        </p:txBody>
      </p:sp>
      <p:sp>
        <p:nvSpPr>
          <p:cNvPr id="5" name="progress-8-0">
            <a:extLst xmlns:a="http://schemas.openxmlformats.org/drawingml/2006/main">
              <a:ext uri="{FF2B5EF4-FFF2-40B4-BE49-F238E27FC236}">
                <a16:creationId xmlns:a16="http://schemas.microsoft.com/office/drawing/2014/main" id="{1C6C9C0B-E2AF-49EB-8E65-7F70242F4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66700"/>
            <a:ext cx="6858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000000"/>
                </a:solidFill>
              </a:defRPr>
            </a:pPr>
            <a:r>
              <a:rPr sz="825" b="1">
                <a:solidFill>
                  <a:srgbClr val="000000"/>
                </a:solidFill>
              </a:rPr>
              <a:t>Code</a:t>
            </a:r>
          </a:p>
        </p:txBody>
      </p:sp>
      <p:sp>
        <p:nvSpPr>
          <p:cNvPr id="6" name="progress-8-1">
            <a:extLst xmlns:a="http://schemas.openxmlformats.org/drawingml/2006/main">
              <a:ext uri="{FF2B5EF4-FFF2-40B4-BE49-F238E27FC236}">
                <a16:creationId xmlns:a16="http://schemas.microsoft.com/office/drawing/2014/main" id="{6D78A408-3BAA-433E-9E12-B29FE11D4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66700"/>
            <a:ext cx="6858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Delivery</a:t>
            </a:r>
          </a:p>
        </p:txBody>
      </p:sp>
      <p:sp>
        <p:nvSpPr>
          <p:cNvPr id="7" name="progress-8-2">
            <a:extLst xmlns:a="http://schemas.openxmlformats.org/drawingml/2006/main">
              <a:ext uri="{FF2B5EF4-FFF2-40B4-BE49-F238E27FC236}">
                <a16:creationId xmlns:a16="http://schemas.microsoft.com/office/drawing/2014/main" id="{EDF67F7F-FDC3-47B3-B51A-F58BC49E4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266700"/>
            <a:ext cx="6858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5E6269"/>
                </a:solidFill>
              </a:defRPr>
            </a:pPr>
            <a:r>
              <a:rPr sz="825" b="1">
                <a:solidFill>
                  <a:srgbClr val="5E6269"/>
                </a:solidFill>
              </a:rPr>
              <a:t>AI</a:t>
            </a:r>
          </a:p>
        </p:txBody>
      </p:sp>
      <p:sp>
        <p:nvSpPr>
          <p:cNvPr id="8" name="progress-8-3">
            <a:extLst xmlns:a="http://schemas.openxmlformats.org/drawingml/2006/main">
              <a:ext uri="{FF2B5EF4-FFF2-40B4-BE49-F238E27FC236}">
                <a16:creationId xmlns:a16="http://schemas.microsoft.com/office/drawing/2014/main" id="{6A651DEF-9202-4E3E-9730-BB6C67378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266700"/>
            <a:ext cx="6858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5E6269"/>
                </a:solidFill>
              </a:defRPr>
            </a:pPr>
            <a:r>
              <a:rPr sz="825" b="1">
                <a:solidFill>
                  <a:srgbClr val="5E6269"/>
                </a:solidFill>
              </a:rPr>
              <a:t>Product</a:t>
            </a:r>
          </a:p>
        </p:txBody>
      </p:sp>
      <p:sp>
        <p:nvSpPr>
          <p:cNvPr id="9" name="progress-8-4">
            <a:extLst xmlns:a="http://schemas.openxmlformats.org/drawingml/2006/main">
              <a:ext uri="{FF2B5EF4-FFF2-40B4-BE49-F238E27FC236}">
                <a16:creationId xmlns:a16="http://schemas.microsoft.com/office/drawing/2014/main" id="{72827C39-BC3C-415A-A845-AC4F8EDEB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2325" y="266700"/>
            <a:ext cx="6858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5E6269"/>
                </a:solidFill>
              </a:defRPr>
            </a:pPr>
            <a:r>
              <a:rPr sz="825" b="1">
                <a:solidFill>
                  <a:srgbClr val="5E6269"/>
                </a:solidFill>
              </a:rPr>
              <a:t>People</a:t>
            </a:r>
          </a:p>
        </p:txBody>
      </p:sp>
      <p:sp>
        <p:nvSpPr>
          <p:cNvPr id="10" name="def-panel-0">
            <a:extLst xmlns:a="http://schemas.openxmlformats.org/drawingml/2006/main">
              <a:ext uri="{FF2B5EF4-FFF2-40B4-BE49-F238E27FC236}">
                <a16:creationId xmlns:a16="http://schemas.microsoft.com/office/drawing/2014/main" id="{510C04C8-FFC5-4ED9-8C2B-FD761BA8F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3524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ef-head-0">
            <a:extLst xmlns:a="http://schemas.openxmlformats.org/drawingml/2006/main">
              <a:ext uri="{FF2B5EF4-FFF2-40B4-BE49-F238E27FC236}">
                <a16:creationId xmlns:a16="http://schemas.microsoft.com/office/drawing/2014/main" id="{7D9B8EA4-F085-4E65-B5E2-1E88A8ACF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28875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Stock</a:t>
            </a:r>
          </a:p>
        </p:txBody>
      </p:sp>
      <p:sp>
        <p:nvSpPr>
          <p:cNvPr id="12" name="def-body-0">
            <a:extLst xmlns:a="http://schemas.openxmlformats.org/drawingml/2006/main">
              <a:ext uri="{FF2B5EF4-FFF2-40B4-BE49-F238E27FC236}">
                <a16:creationId xmlns:a16="http://schemas.microsoft.com/office/drawing/2014/main" id="{FC1012AD-5D4F-432B-BE73-6C82F118E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81375"/>
            <a:ext cx="295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5E6269"/>
                </a:solidFill>
              </a:defRPr>
            </a:pPr>
            <a:r>
              <a:rPr sz="1950" b="0">
                <a:solidFill>
                  <a:srgbClr val="5E6269"/>
                </a:solidFill>
              </a:rPr>
              <a:t>Something that piles up.</a:t>
            </a:r>
          </a:p>
        </p:txBody>
      </p:sp>
      <p:sp>
        <p:nvSpPr>
          <p:cNvPr id="13" name="def-panel-1">
            <a:extLst xmlns:a="http://schemas.openxmlformats.org/drawingml/2006/main">
              <a:ext uri="{FF2B5EF4-FFF2-40B4-BE49-F238E27FC236}">
                <a16:creationId xmlns:a16="http://schemas.microsoft.com/office/drawing/2014/main" id="{6331AF39-0197-4912-90B3-C1BA82429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095500"/>
            <a:ext cx="3524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def-head-1">
            <a:extLst xmlns:a="http://schemas.openxmlformats.org/drawingml/2006/main">
              <a:ext uri="{FF2B5EF4-FFF2-40B4-BE49-F238E27FC236}">
                <a16:creationId xmlns:a16="http://schemas.microsoft.com/office/drawing/2014/main" id="{9A6EA1CF-5566-438D-BB3A-31313F3A7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428875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Flow</a:t>
            </a:r>
          </a:p>
        </p:txBody>
      </p:sp>
      <p:sp>
        <p:nvSpPr>
          <p:cNvPr id="15" name="def-body-1">
            <a:extLst xmlns:a="http://schemas.openxmlformats.org/drawingml/2006/main">
              <a:ext uri="{FF2B5EF4-FFF2-40B4-BE49-F238E27FC236}">
                <a16:creationId xmlns:a16="http://schemas.microsoft.com/office/drawing/2014/main" id="{68D3B7F8-7220-4BC5-9C37-FAD7486E7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381375"/>
            <a:ext cx="295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5E6269"/>
                </a:solidFill>
              </a:defRPr>
            </a:pPr>
            <a:r>
              <a:rPr sz="1950" b="0">
                <a:solidFill>
                  <a:srgbClr val="5E6269"/>
                </a:solidFill>
              </a:rPr>
              <a:t>What adds to it or removes from it.</a:t>
            </a:r>
          </a:p>
        </p:txBody>
      </p:sp>
      <p:sp>
        <p:nvSpPr>
          <p:cNvPr id="16" name="def-panel-2">
            <a:extLst xmlns:a="http://schemas.openxmlformats.org/drawingml/2006/main">
              <a:ext uri="{FF2B5EF4-FFF2-40B4-BE49-F238E27FC236}">
                <a16:creationId xmlns:a16="http://schemas.microsoft.com/office/drawing/2014/main" id="{C7D936E1-C6CB-410C-86FA-F410FC79C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95500"/>
            <a:ext cx="3524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def-head-2">
            <a:extLst xmlns:a="http://schemas.openxmlformats.org/drawingml/2006/main">
              <a:ext uri="{FF2B5EF4-FFF2-40B4-BE49-F238E27FC236}">
                <a16:creationId xmlns:a16="http://schemas.microsoft.com/office/drawing/2014/main" id="{CE6D5A11-90B7-41F5-A589-D029D5776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28875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Delay</a:t>
            </a:r>
          </a:p>
        </p:txBody>
      </p:sp>
      <p:sp>
        <p:nvSpPr>
          <p:cNvPr id="18" name="def-body-2">
            <a:extLst xmlns:a="http://schemas.openxmlformats.org/drawingml/2006/main">
              <a:ext uri="{FF2B5EF4-FFF2-40B4-BE49-F238E27FC236}">
                <a16:creationId xmlns:a16="http://schemas.microsoft.com/office/drawing/2014/main" id="{DF666DE5-9883-4517-A1CF-F7CB706A9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81375"/>
            <a:ext cx="295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5E6269"/>
                </a:solidFill>
              </a:defRPr>
            </a:pPr>
            <a:r>
              <a:rPr sz="1950" b="0">
                <a:solidFill>
                  <a:srgbClr val="5E6269"/>
                </a:solidFill>
              </a:rPr>
              <a:t>The wait before we see the result.</a:t>
            </a:r>
          </a:p>
        </p:txBody>
      </p:sp>
    </p:spTree>
    <p:extLst>
      <p:ext uri="{BB962C8B-B14F-4D97-AF65-F5344CB8AC3E}">
        <p14:creationId xmlns:p14="http://schemas.microsoft.com/office/powerpoint/2010/main" val="161588268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-9">
            <a:extLst xmlns:a="http://schemas.openxmlformats.org/drawingml/2006/main">
              <a:ext uri="{FF2B5EF4-FFF2-40B4-BE49-F238E27FC236}">
                <a16:creationId xmlns:a16="http://schemas.microsoft.com/office/drawing/2014/main" id="{DEE56CE1-A213-4913-A52E-60BBD865F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9">
            <a:extLst xmlns:a="http://schemas.openxmlformats.org/drawingml/2006/main">
              <a:ext uri="{FF2B5EF4-FFF2-40B4-BE49-F238E27FC236}">
                <a16:creationId xmlns:a16="http://schemas.microsoft.com/office/drawing/2014/main" id="{8E5BAD69-5EA8-4C39-A4E0-C65D7034A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28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E6269"/>
                </a:solidFill>
              </a:defRPr>
            </a:pPr>
            <a:r>
              <a:rPr sz="1350" b="1">
                <a:solidFill>
                  <a:srgbClr val="5E6269"/>
                </a:solidFill>
              </a:rPr>
              <a:t>DELIVERY · RECOGNISE IT</a:t>
            </a:r>
          </a:p>
        </p:txBody>
      </p:sp>
      <p:sp>
        <p:nvSpPr>
          <p:cNvPr id="3" name="title-9">
            <a:extLst xmlns:a="http://schemas.openxmlformats.org/drawingml/2006/main">
              <a:ext uri="{FF2B5EF4-FFF2-40B4-BE49-F238E27FC236}">
                <a16:creationId xmlns:a16="http://schemas.microsoft.com/office/drawing/2014/main" id="{5047B1D5-D881-4D0B-8115-0EBB37862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3919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75" b="1">
                <a:solidFill>
                  <a:srgbClr val="000000"/>
                </a:solidFill>
              </a:defRPr>
            </a:pPr>
            <a:r>
              <a:rPr sz="3375" b="1">
                <a:solidFill>
                  <a:srgbClr val="000000"/>
                </a:solidFill>
              </a:rPr>
              <a:t>Think about the software projects you have worked on</a:t>
            </a:r>
          </a:p>
        </p:txBody>
      </p:sp>
      <p:sp>
        <p:nvSpPr>
          <p:cNvPr id="4" name="page-9">
            <a:extLst xmlns:a="http://schemas.openxmlformats.org/drawingml/2006/main">
              <a:ext uri="{FF2B5EF4-FFF2-40B4-BE49-F238E27FC236}">
                <a16:creationId xmlns:a16="http://schemas.microsoft.com/office/drawing/2014/main" id="{74933D05-6A25-4ABE-85A3-E586A77B1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647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E6269"/>
                </a:solidFill>
              </a:defRPr>
            </a:pPr>
            <a:r>
              <a:rPr sz="975" b="0">
                <a:solidFill>
                  <a:srgbClr val="5E6269"/>
                </a:solidFill>
              </a:rPr>
              <a:t>9</a:t>
            </a:r>
          </a:p>
        </p:txBody>
      </p:sp>
      <p:sp>
        <p:nvSpPr>
          <p:cNvPr id="5" name="progress-9-0">
            <a:extLst xmlns:a="http://schemas.openxmlformats.org/drawingml/2006/main">
              <a:ext uri="{FF2B5EF4-FFF2-40B4-BE49-F238E27FC236}">
                <a16:creationId xmlns:a16="http://schemas.microsoft.com/office/drawing/2014/main" id="{D7C77AFD-22FF-4520-9D1F-9E95FA5CF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66700"/>
            <a:ext cx="6858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000000"/>
                </a:solidFill>
              </a:defRPr>
            </a:pPr>
            <a:r>
              <a:rPr sz="825" b="1">
                <a:solidFill>
                  <a:srgbClr val="000000"/>
                </a:solidFill>
              </a:rPr>
              <a:t>Code</a:t>
            </a:r>
          </a:p>
        </p:txBody>
      </p:sp>
      <p:sp>
        <p:nvSpPr>
          <p:cNvPr id="6" name="progress-9-1">
            <a:extLst xmlns:a="http://schemas.openxmlformats.org/drawingml/2006/main">
              <a:ext uri="{FF2B5EF4-FFF2-40B4-BE49-F238E27FC236}">
                <a16:creationId xmlns:a16="http://schemas.microsoft.com/office/drawing/2014/main" id="{29EA6D99-52FF-4B65-B677-F59FD47D6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66700"/>
            <a:ext cx="6858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Delivery</a:t>
            </a:r>
          </a:p>
        </p:txBody>
      </p:sp>
      <p:sp>
        <p:nvSpPr>
          <p:cNvPr id="7" name="progress-9-2">
            <a:extLst xmlns:a="http://schemas.openxmlformats.org/drawingml/2006/main">
              <a:ext uri="{FF2B5EF4-FFF2-40B4-BE49-F238E27FC236}">
                <a16:creationId xmlns:a16="http://schemas.microsoft.com/office/drawing/2014/main" id="{B4EAB956-9CE6-42E9-9731-17AA7A752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266700"/>
            <a:ext cx="6858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5E6269"/>
                </a:solidFill>
              </a:defRPr>
            </a:pPr>
            <a:r>
              <a:rPr sz="825" b="1">
                <a:solidFill>
                  <a:srgbClr val="5E6269"/>
                </a:solidFill>
              </a:rPr>
              <a:t>AI</a:t>
            </a:r>
          </a:p>
        </p:txBody>
      </p:sp>
      <p:sp>
        <p:nvSpPr>
          <p:cNvPr id="8" name="progress-9-3">
            <a:extLst xmlns:a="http://schemas.openxmlformats.org/drawingml/2006/main">
              <a:ext uri="{FF2B5EF4-FFF2-40B4-BE49-F238E27FC236}">
                <a16:creationId xmlns:a16="http://schemas.microsoft.com/office/drawing/2014/main" id="{C00E00F8-B008-4EFD-97E1-1246C5C9A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266700"/>
            <a:ext cx="6858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5E6269"/>
                </a:solidFill>
              </a:defRPr>
            </a:pPr>
            <a:r>
              <a:rPr sz="825" b="1">
                <a:solidFill>
                  <a:srgbClr val="5E6269"/>
                </a:solidFill>
              </a:rPr>
              <a:t>Product</a:t>
            </a:r>
          </a:p>
        </p:txBody>
      </p:sp>
      <p:sp>
        <p:nvSpPr>
          <p:cNvPr id="9" name="progress-9-4">
            <a:extLst xmlns:a="http://schemas.openxmlformats.org/drawingml/2006/main">
              <a:ext uri="{FF2B5EF4-FFF2-40B4-BE49-F238E27FC236}">
                <a16:creationId xmlns:a16="http://schemas.microsoft.com/office/drawing/2014/main" id="{137EEA81-4A1E-45B7-AF47-9465E4A84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2325" y="266700"/>
            <a:ext cx="6858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5E6269"/>
                </a:solidFill>
              </a:defRPr>
            </a:pPr>
            <a:r>
              <a:rPr sz="825" b="1">
                <a:solidFill>
                  <a:srgbClr val="5E6269"/>
                </a:solidFill>
              </a:rPr>
              <a:t>People</a:t>
            </a:r>
          </a:p>
        </p:txBody>
      </p:sp>
      <p:sp>
        <p:nvSpPr>
          <p:cNvPr id="10" name="delivery-poll">
            <a:extLst xmlns:a="http://schemas.openxmlformats.org/drawingml/2006/main">
              <a:ext uri="{FF2B5EF4-FFF2-40B4-BE49-F238E27FC236}">
                <a16:creationId xmlns:a16="http://schemas.microsoft.com/office/drawing/2014/main" id="{62910E3F-6B5E-4AF4-91B8-DD6336BA5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0001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1">
                <a:solidFill>
                  <a:srgbClr val="000000"/>
                </a:solidFill>
              </a:defRPr>
            </a:pPr>
            <a:r>
              <a:rPr sz="3825" b="1">
                <a:solidFill>
                  <a:srgbClr val="000000"/>
                </a:solidFill>
              </a:rPr>
              <a:t>How often did they finish</a:t>
            </a:r>
          </a:p>
          <a:p xmlns:a="http://schemas.openxmlformats.org/drawingml/2006/main">
            <a:pPr algn="l">
              <a:buNone/>
              <a:defRPr sz="3825" b="1">
                <a:solidFill>
                  <a:srgbClr val="000000"/>
                </a:solidFill>
              </a:defRPr>
            </a:pPr>
            <a:r>
              <a:rPr sz="3825" b="1">
                <a:solidFill>
                  <a:srgbClr val="000000"/>
                </a:solidFill>
              </a:rPr>
              <a:t>when you first expected them to?</a:t>
            </a:r>
          </a:p>
        </p:txBody>
      </p:sp>
      <p:sp>
        <p:nvSpPr>
          <p:cNvPr id="11" name="answer-line-0">
            <a:extLst xmlns:a="http://schemas.openxmlformats.org/drawingml/2006/main">
              <a:ext uri="{FF2B5EF4-FFF2-40B4-BE49-F238E27FC236}">
                <a16:creationId xmlns:a16="http://schemas.microsoft.com/office/drawing/2014/main" id="{93BB093D-A726-459E-869E-912A69B82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67250"/>
            <a:ext cx="19526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nswer-0">
            <a:extLst xmlns:a="http://schemas.openxmlformats.org/drawingml/2006/main">
              <a:ext uri="{FF2B5EF4-FFF2-40B4-BE49-F238E27FC236}">
                <a16:creationId xmlns:a16="http://schemas.microsoft.com/office/drawing/2014/main" id="{E3E81E26-42AC-41A9-858B-44017CF4F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0"/>
            <a:ext cx="1952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Always</a:t>
            </a:r>
          </a:p>
        </p:txBody>
      </p:sp>
      <p:sp>
        <p:nvSpPr>
          <p:cNvPr id="13" name="answer-line-1">
            <a:extLst xmlns:a="http://schemas.openxmlformats.org/drawingml/2006/main">
              <a:ext uri="{FF2B5EF4-FFF2-40B4-BE49-F238E27FC236}">
                <a16:creationId xmlns:a16="http://schemas.microsoft.com/office/drawing/2014/main" id="{8E38ACC2-FBD1-43EB-8B80-0640F853E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667250"/>
            <a:ext cx="19526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answer-1">
            <a:extLst xmlns:a="http://schemas.openxmlformats.org/drawingml/2006/main">
              <a:ext uri="{FF2B5EF4-FFF2-40B4-BE49-F238E27FC236}">
                <a16:creationId xmlns:a16="http://schemas.microsoft.com/office/drawing/2014/main" id="{EAB8758A-C8D7-45D3-AC67-BF8E999E1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953000"/>
            <a:ext cx="1952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Usually</a:t>
            </a:r>
          </a:p>
        </p:txBody>
      </p:sp>
      <p:sp>
        <p:nvSpPr>
          <p:cNvPr id="15" name="answer-line-2">
            <a:extLst xmlns:a="http://schemas.openxmlformats.org/drawingml/2006/main">
              <a:ext uri="{FF2B5EF4-FFF2-40B4-BE49-F238E27FC236}">
                <a16:creationId xmlns:a16="http://schemas.microsoft.com/office/drawing/2014/main" id="{C54EDD3A-448F-439F-8761-4C2E314AC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667250"/>
            <a:ext cx="19526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answer-2">
            <a:extLst xmlns:a="http://schemas.openxmlformats.org/drawingml/2006/main">
              <a:ext uri="{FF2B5EF4-FFF2-40B4-BE49-F238E27FC236}">
                <a16:creationId xmlns:a16="http://schemas.microsoft.com/office/drawing/2014/main" id="{A1321497-DB92-46C6-B665-313450F30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953000"/>
            <a:ext cx="1952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3D8DFF"/>
                </a:solidFill>
              </a:defRPr>
            </a:pPr>
            <a:r>
              <a:rPr sz="1725" b="1">
                <a:solidFill>
                  <a:srgbClr val="3D8DFF"/>
                </a:solidFill>
              </a:rPr>
              <a:t>Sometimes</a:t>
            </a:r>
          </a:p>
        </p:txBody>
      </p:sp>
      <p:sp>
        <p:nvSpPr>
          <p:cNvPr id="17" name="answer-line-3">
            <a:extLst xmlns:a="http://schemas.openxmlformats.org/drawingml/2006/main">
              <a:ext uri="{FF2B5EF4-FFF2-40B4-BE49-F238E27FC236}">
                <a16:creationId xmlns:a16="http://schemas.microsoft.com/office/drawing/2014/main" id="{0879E3A7-A676-4B7E-A44E-DC0F149AE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667250"/>
            <a:ext cx="19526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answer-3">
            <a:extLst xmlns:a="http://schemas.openxmlformats.org/drawingml/2006/main">
              <a:ext uri="{FF2B5EF4-FFF2-40B4-BE49-F238E27FC236}">
                <a16:creationId xmlns:a16="http://schemas.microsoft.com/office/drawing/2014/main" id="{17E7F4C3-F232-40AF-9371-29CA1F384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953000"/>
            <a:ext cx="1952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Rarely</a:t>
            </a:r>
          </a:p>
        </p:txBody>
      </p:sp>
      <p:sp>
        <p:nvSpPr>
          <p:cNvPr id="19" name="answer-line-4">
            <a:extLst xmlns:a="http://schemas.openxmlformats.org/drawingml/2006/main">
              <a:ext uri="{FF2B5EF4-FFF2-40B4-BE49-F238E27FC236}">
                <a16:creationId xmlns:a16="http://schemas.microsoft.com/office/drawing/2014/main" id="{41AE4A48-033F-49DC-91DD-5F16E471B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667250"/>
            <a:ext cx="19526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answer-4">
            <a:extLst xmlns:a="http://schemas.openxmlformats.org/drawingml/2006/main">
              <a:ext uri="{FF2B5EF4-FFF2-40B4-BE49-F238E27FC236}">
                <a16:creationId xmlns:a16="http://schemas.microsoft.com/office/drawing/2014/main" id="{26E60636-DF82-46EB-9DF3-222A76061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953000"/>
            <a:ext cx="1952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Never</a:t>
            </a:r>
          </a:p>
        </p:txBody>
      </p:sp>
      <p:sp>
        <p:nvSpPr>
          <p:cNvPr id="21" name="hands">
            <a:extLst xmlns:a="http://schemas.openxmlformats.org/drawingml/2006/main">
              <a:ext uri="{FF2B5EF4-FFF2-40B4-BE49-F238E27FC236}">
                <a16:creationId xmlns:a16="http://schemas.microsoft.com/office/drawing/2014/main" id="{0DF465BD-9914-47AE-88B6-A712EFB71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5E6269"/>
                </a:solidFill>
              </a:defRPr>
            </a:pPr>
            <a:r>
              <a:rPr sz="1500" b="1">
                <a:solidFill>
                  <a:srgbClr val="5E6269"/>
                </a:solidFill>
              </a:rPr>
              <a:t>Quick show of hands</a:t>
            </a:r>
          </a:p>
        </p:txBody>
      </p:sp>
    </p:spTree>
    <p:extLst>
      <p:ext uri="{BB962C8B-B14F-4D97-AF65-F5344CB8AC3E}">
        <p14:creationId xmlns:p14="http://schemas.microsoft.com/office/powerpoint/2010/main" val="79397488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-10">
            <a:extLst xmlns:a="http://schemas.openxmlformats.org/drawingml/2006/main">
              <a:ext uri="{FF2B5EF4-FFF2-40B4-BE49-F238E27FC236}">
                <a16:creationId xmlns:a16="http://schemas.microsoft.com/office/drawing/2014/main" id="{3DC70073-0512-43C4-96CD-9B7DD49AE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10">
            <a:extLst xmlns:a="http://schemas.openxmlformats.org/drawingml/2006/main">
              <a:ext uri="{FF2B5EF4-FFF2-40B4-BE49-F238E27FC236}">
                <a16:creationId xmlns:a16="http://schemas.microsoft.com/office/drawing/2014/main" id="{0322A055-FBFB-45BE-AC7C-B511462C3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28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E6269"/>
                </a:solidFill>
              </a:defRPr>
            </a:pPr>
            <a:r>
              <a:rPr sz="1350" b="1">
                <a:solidFill>
                  <a:srgbClr val="5E6269"/>
                </a:solidFill>
              </a:rPr>
              <a:t>DELIVERY · EXPLAIN IT</a:t>
            </a:r>
          </a:p>
        </p:txBody>
      </p:sp>
      <p:sp>
        <p:nvSpPr>
          <p:cNvPr id="3" name="title-10">
            <a:extLst xmlns:a="http://schemas.openxmlformats.org/drawingml/2006/main">
              <a:ext uri="{FF2B5EF4-FFF2-40B4-BE49-F238E27FC236}">
                <a16:creationId xmlns:a16="http://schemas.microsoft.com/office/drawing/2014/main" id="{BAC86556-524B-44D6-A7D4-86B73A9E0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3919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75" b="1">
                <a:solidFill>
                  <a:srgbClr val="000000"/>
                </a:solidFill>
              </a:defRPr>
            </a:pPr>
            <a:r>
              <a:rPr sz="3375" b="1">
                <a:solidFill>
                  <a:srgbClr val="000000"/>
                </a:solidFill>
              </a:rPr>
              <a:t>A plan cannot show work we do not know is coming back</a:t>
            </a:r>
          </a:p>
        </p:txBody>
      </p:sp>
      <p:sp>
        <p:nvSpPr>
          <p:cNvPr id="4" name="source-10">
            <a:extLst xmlns:a="http://schemas.openxmlformats.org/drawingml/2006/main">
              <a:ext uri="{FF2B5EF4-FFF2-40B4-BE49-F238E27FC236}">
                <a16:creationId xmlns:a16="http://schemas.microsoft.com/office/drawing/2014/main" id="{5100C323-1082-4189-9546-A3CD8F6DD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E6269"/>
                </a:solidFill>
              </a:defRPr>
            </a:pPr>
            <a:r>
              <a:rPr sz="900" b="0">
                <a:solidFill>
                  <a:srgbClr val="5E6269"/>
                </a:solidFill>
              </a:rPr>
              <a:t>Source: MIT OCW ESD.36, Lecture 7: The Rework Cycle</a:t>
            </a:r>
          </a:p>
        </p:txBody>
      </p:sp>
      <p:sp>
        <p:nvSpPr>
          <p:cNvPr id="5" name="page-10">
            <a:extLst xmlns:a="http://schemas.openxmlformats.org/drawingml/2006/main">
              <a:ext uri="{FF2B5EF4-FFF2-40B4-BE49-F238E27FC236}">
                <a16:creationId xmlns:a16="http://schemas.microsoft.com/office/drawing/2014/main" id="{FFBB4477-144E-44F7-B7CD-0EDAA21E7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647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E6269"/>
                </a:solidFill>
              </a:defRPr>
            </a:pPr>
            <a:r>
              <a:rPr sz="975" b="0">
                <a:solidFill>
                  <a:srgbClr val="5E6269"/>
                </a:solidFill>
              </a:rPr>
              <a:t>10</a:t>
            </a:r>
          </a:p>
        </p:txBody>
      </p:sp>
      <p:sp>
        <p:nvSpPr>
          <p:cNvPr id="6" name="progress-10-0">
            <a:extLst xmlns:a="http://schemas.openxmlformats.org/drawingml/2006/main">
              <a:ext uri="{FF2B5EF4-FFF2-40B4-BE49-F238E27FC236}">
                <a16:creationId xmlns:a16="http://schemas.microsoft.com/office/drawing/2014/main" id="{22A21B23-0B66-428A-9018-C50F60897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66700"/>
            <a:ext cx="6858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000000"/>
                </a:solidFill>
              </a:defRPr>
            </a:pPr>
            <a:r>
              <a:rPr sz="825" b="1">
                <a:solidFill>
                  <a:srgbClr val="000000"/>
                </a:solidFill>
              </a:rPr>
              <a:t>Code</a:t>
            </a:r>
          </a:p>
        </p:txBody>
      </p:sp>
      <p:sp>
        <p:nvSpPr>
          <p:cNvPr id="7" name="progress-10-1">
            <a:extLst xmlns:a="http://schemas.openxmlformats.org/drawingml/2006/main">
              <a:ext uri="{FF2B5EF4-FFF2-40B4-BE49-F238E27FC236}">
                <a16:creationId xmlns:a16="http://schemas.microsoft.com/office/drawing/2014/main" id="{D9B2B179-60E2-49CC-86A9-06879802F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66700"/>
            <a:ext cx="6858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Delivery</a:t>
            </a:r>
          </a:p>
        </p:txBody>
      </p:sp>
      <p:sp>
        <p:nvSpPr>
          <p:cNvPr id="8" name="progress-10-2">
            <a:extLst xmlns:a="http://schemas.openxmlformats.org/drawingml/2006/main">
              <a:ext uri="{FF2B5EF4-FFF2-40B4-BE49-F238E27FC236}">
                <a16:creationId xmlns:a16="http://schemas.microsoft.com/office/drawing/2014/main" id="{DF23D642-B385-4B5D-9DF2-8C57E0335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266700"/>
            <a:ext cx="6858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5E6269"/>
                </a:solidFill>
              </a:defRPr>
            </a:pPr>
            <a:r>
              <a:rPr sz="825" b="1">
                <a:solidFill>
                  <a:srgbClr val="5E6269"/>
                </a:solidFill>
              </a:rPr>
              <a:t>AI</a:t>
            </a:r>
          </a:p>
        </p:txBody>
      </p:sp>
      <p:sp>
        <p:nvSpPr>
          <p:cNvPr id="9" name="progress-10-3">
            <a:extLst xmlns:a="http://schemas.openxmlformats.org/drawingml/2006/main">
              <a:ext uri="{FF2B5EF4-FFF2-40B4-BE49-F238E27FC236}">
                <a16:creationId xmlns:a16="http://schemas.microsoft.com/office/drawing/2014/main" id="{935AD24A-5191-4A0B-AF4A-B56E16F18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266700"/>
            <a:ext cx="6858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5E6269"/>
                </a:solidFill>
              </a:defRPr>
            </a:pPr>
            <a:r>
              <a:rPr sz="825" b="1">
                <a:solidFill>
                  <a:srgbClr val="5E6269"/>
                </a:solidFill>
              </a:rPr>
              <a:t>Product</a:t>
            </a:r>
          </a:p>
        </p:txBody>
      </p:sp>
      <p:sp>
        <p:nvSpPr>
          <p:cNvPr id="10" name="progress-10-4">
            <a:extLst xmlns:a="http://schemas.openxmlformats.org/drawingml/2006/main">
              <a:ext uri="{FF2B5EF4-FFF2-40B4-BE49-F238E27FC236}">
                <a16:creationId xmlns:a16="http://schemas.microsoft.com/office/drawing/2014/main" id="{00AD41A6-49F5-4F34-B5D5-A7DC44224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2325" y="266700"/>
            <a:ext cx="6858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5E6269"/>
                </a:solidFill>
              </a:defRPr>
            </a:pPr>
            <a:r>
              <a:rPr sz="825" b="1">
                <a:solidFill>
                  <a:srgbClr val="5E6269"/>
                </a:solidFill>
              </a:rPr>
              <a:t>People</a:t>
            </a:r>
          </a:p>
        </p:txBody>
      </p:sp>
      <p:sp>
        <p:nvSpPr>
          <p:cNvPr id="11" name="rework-todo">
            <a:extLst xmlns:a="http://schemas.openxmlformats.org/drawingml/2006/main">
              <a:ext uri="{FF2B5EF4-FFF2-40B4-BE49-F238E27FC236}">
                <a16:creationId xmlns:a16="http://schemas.microsoft.com/office/drawing/2014/main" id="{043DCFB3-D40B-4158-AA04-22787321E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21907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Work still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to do</a:t>
            </a:r>
          </a:p>
        </p:txBody>
      </p:sp>
      <p:sp>
        <p:nvSpPr>
          <p:cNvPr id="12" name="rework-done">
            <a:extLst xmlns:a="http://schemas.openxmlformats.org/drawingml/2006/main">
              <a:ext uri="{FF2B5EF4-FFF2-40B4-BE49-F238E27FC236}">
                <a16:creationId xmlns:a16="http://schemas.microsoft.com/office/drawing/2014/main" id="{17CFF144-4A95-4093-8681-F9D9CE1D5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09875"/>
            <a:ext cx="21907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Work looks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complete</a:t>
            </a:r>
          </a:p>
        </p:txBody>
      </p:sp>
      <p:sp>
        <p:nvSpPr>
          <p:cNvPr id="13" name="rework-hidden">
            <a:extLst xmlns:a="http://schemas.openxmlformats.org/drawingml/2006/main">
              <a:ext uri="{FF2B5EF4-FFF2-40B4-BE49-F238E27FC236}">
                <a16:creationId xmlns:a16="http://schemas.microsoft.com/office/drawing/2014/main" id="{F877E018-B2A7-48AC-A303-8FE2174E1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09875"/>
            <a:ext cx="21907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Problems not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found yet</a:t>
            </a:r>
          </a:p>
        </p:txBody>
      </p:sp>
      <p:sp>
        <p:nvSpPr>
          <p:cNvPr id="14" name="rework-return">
            <a:extLst xmlns:a="http://schemas.openxmlformats.org/drawingml/2006/main">
              <a:ext uri="{FF2B5EF4-FFF2-40B4-BE49-F238E27FC236}">
                <a16:creationId xmlns:a16="http://schemas.microsoft.com/office/drawing/2014/main" id="{37B6EEEA-5BEA-4E6F-92B1-D7CDCFEE8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09875"/>
            <a:ext cx="21907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Rework</a:t>
            </a:r>
          </a:p>
        </p:txBody>
      </p:sp>
      <p:cxnSp>
        <p:nvCxnSpPr>
          <p:cNvPr id="56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857500" y="3309938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  <a:tailEnd type="triangle" w="med" len="med"/>
          </a:ln>
        </p:spPr>
      </p:cxnSp>
      <p:cxnSp>
        <p:nvCxnSpPr>
          <p:cNvPr id="57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5619750" y="3309938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  <a:tailEnd type="triangle" w="med" len="med"/>
          </a:ln>
        </p:spPr>
      </p:cxnSp>
      <p:cxnSp>
        <p:nvCxnSpPr>
          <p:cNvPr id="58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8382000" y="3309938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dash"/>
            <a:tailEnd type="triangle" w="med" len="med"/>
          </a:ln>
        </p:spPr>
      </p:cxnSp>
      <p:cxnSp>
        <p:nvCxnSpPr>
          <p:cNvPr id="59" name=""/>
          <p:cNvCxnSpPr>
            <a:stCxn xmlns:a="http://schemas.openxmlformats.org/drawingml/2006/main" id="14" idx="2"/>
            <a:endCxn xmlns:a="http://schemas.openxmlformats.org/drawingml/2006/main" id="11" idx="2"/>
          </p:cNvCxnSpPr>
          <p:nvPr/>
        </p:nvCxnSpPr>
        <p:spPr>
          <a:xfrm xmlns:a="http://schemas.openxmlformats.org/drawingml/2006/main" flipH="1">
            <a:off x="1762125" y="3810000"/>
            <a:ext cx="8572500" cy="228600"/>
          </a:xfrm>
          <a:prstGeom xmlns:a="http://schemas.openxmlformats.org/drawingml/2006/main" prst="curvedConnector4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  <a:tailEnd type="triangle" w="med" len="med"/>
          </a:ln>
        </p:spPr>
      </p:cxnSp>
      <p:sp>
        <p:nvSpPr>
          <p:cNvPr id="19" name="hidden-stock-label">
            <a:extLst xmlns:a="http://schemas.openxmlformats.org/drawingml/2006/main">
              <a:ext uri="{FF2B5EF4-FFF2-40B4-BE49-F238E27FC236}">
                <a16:creationId xmlns:a16="http://schemas.microsoft.com/office/drawing/2014/main" id="{24418D3B-8BBF-45C6-94B0-C3848D684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3622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hidden stock</a:t>
            </a:r>
          </a:p>
        </p:txBody>
      </p:sp>
      <p:sp>
        <p:nvSpPr>
          <p:cNvPr id="20" name="discovery-flow-label">
            <a:extLst xmlns:a="http://schemas.openxmlformats.org/drawingml/2006/main">
              <a:ext uri="{FF2B5EF4-FFF2-40B4-BE49-F238E27FC236}">
                <a16:creationId xmlns:a16="http://schemas.microsoft.com/office/drawing/2014/main" id="{B7ECD23A-F925-41AF-B246-6E4E4B26C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3622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3D8DFF"/>
                </a:solidFill>
              </a:defRPr>
            </a:pPr>
            <a:r>
              <a:rPr sz="1275" b="1">
                <a:solidFill>
                  <a:srgbClr val="3D8DFF"/>
                </a:solidFill>
              </a:rPr>
              <a:t>discovery flow</a:t>
            </a:r>
          </a:p>
        </p:txBody>
      </p:sp>
      <p:sp>
        <p:nvSpPr>
          <p:cNvPr id="21" name="delay-label">
            <a:extLst xmlns:a="http://schemas.openxmlformats.org/drawingml/2006/main">
              <a:ext uri="{FF2B5EF4-FFF2-40B4-BE49-F238E27FC236}">
                <a16:creationId xmlns:a16="http://schemas.microsoft.com/office/drawing/2014/main" id="{D7970A2D-61DB-4D0A-B388-93CF08112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957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3D8DFF"/>
                </a:solidFill>
              </a:defRPr>
            </a:pPr>
            <a:r>
              <a:rPr sz="1425" b="1">
                <a:solidFill>
                  <a:srgbClr val="3D8DFF"/>
                </a:solidFill>
              </a:rPr>
              <a:t>delay before discovery</a:t>
            </a:r>
          </a:p>
        </p:txBody>
      </p:sp>
      <p:sp>
        <p:nvSpPr>
          <p:cNvPr id="22" name="carry-rule-10">
            <a:extLst xmlns:a="http://schemas.openxmlformats.org/drawingml/2006/main">
              <a:ext uri="{FF2B5EF4-FFF2-40B4-BE49-F238E27FC236}">
                <a16:creationId xmlns:a16="http://schemas.microsoft.com/office/drawing/2014/main" id="{579F7811-BF7A-4BBE-80F3-897D3C8BB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293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carry-10">
            <a:extLst xmlns:a="http://schemas.openxmlformats.org/drawingml/2006/main">
              <a:ext uri="{FF2B5EF4-FFF2-40B4-BE49-F238E27FC236}">
                <a16:creationId xmlns:a16="http://schemas.microsoft.com/office/drawing/2014/main" id="{B12EC390-7E9B-4534-ABCB-6FDCDA808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10668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Where does work keep piling up, and why do we only notice when we’re already late?</a:t>
            </a:r>
          </a:p>
        </p:txBody>
      </p:sp>
    </p:spTree>
    <p:extLst>
      <p:ext uri="{BB962C8B-B14F-4D97-AF65-F5344CB8AC3E}">
        <p14:creationId xmlns:p14="http://schemas.microsoft.com/office/powerpoint/2010/main" val="183017017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ed1856c79e4d1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video-play-bg">
            <a:extLst xmlns:a="http://schemas.openxmlformats.org/drawingml/2006/main">
              <a:ext uri="{FF2B5EF4-FFF2-40B4-BE49-F238E27FC236}">
                <a16:creationId xmlns:a16="http://schemas.microsoft.com/office/drawing/2014/main" id="{2B4606D0-336A-4ED4-AE9C-15FD4310E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95275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video-play">
            <a:extLst xmlns:a="http://schemas.openxmlformats.org/drawingml/2006/main">
              <a:ext uri="{FF2B5EF4-FFF2-40B4-BE49-F238E27FC236}">
                <a16:creationId xmlns:a16="http://schemas.microsoft.com/office/drawing/2014/main" id="{4C5E23EE-09CB-4003-80F9-B15CFFE6F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86100"/>
            <a:ext cx="66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  <a:hlinkClick xmlns:r="http://schemas.openxmlformats.org/officeDocument/2006/relationships" r:id="R3788fc2411f74f3d"/>
              </a:rPr>
              <a:t>►</a:t>
            </a:r>
          </a:p>
        </p:txBody>
      </p:sp>
    </p:spTree>
    <p:extLst>
      <p:ext uri="{BB962C8B-B14F-4D97-AF65-F5344CB8AC3E}">
        <p14:creationId xmlns:p14="http://schemas.microsoft.com/office/powerpoint/2010/main" val="79692745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-12">
            <a:extLst xmlns:a="http://schemas.openxmlformats.org/drawingml/2006/main">
              <a:ext uri="{FF2B5EF4-FFF2-40B4-BE49-F238E27FC236}">
                <a16:creationId xmlns:a16="http://schemas.microsoft.com/office/drawing/2014/main" id="{661E7221-E671-4244-A4A6-48D3D9C4F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12">
            <a:extLst xmlns:a="http://schemas.openxmlformats.org/drawingml/2006/main">
              <a:ext uri="{FF2B5EF4-FFF2-40B4-BE49-F238E27FC236}">
                <a16:creationId xmlns:a16="http://schemas.microsoft.com/office/drawing/2014/main" id="{1A98C038-FEF4-448A-96A4-380AB0EA1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28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E6269"/>
                </a:solidFill>
              </a:defRPr>
            </a:pPr>
            <a:r>
              <a:rPr sz="1350" b="1">
                <a:solidFill>
                  <a:srgbClr val="5E6269"/>
                </a:solidFill>
              </a:rPr>
              <a:t>AI · INTERLUDE</a:t>
            </a:r>
          </a:p>
        </p:txBody>
      </p:sp>
      <p:sp>
        <p:nvSpPr>
          <p:cNvPr id="3" name="title-12">
            <a:extLst xmlns:a="http://schemas.openxmlformats.org/drawingml/2006/main">
              <a:ext uri="{FF2B5EF4-FFF2-40B4-BE49-F238E27FC236}">
                <a16:creationId xmlns:a16="http://schemas.microsoft.com/office/drawing/2014/main" id="{C6DECC97-2362-4629-8B95-8ED484872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3919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75" b="1">
                <a:solidFill>
                  <a:srgbClr val="000000"/>
                </a:solidFill>
              </a:defRPr>
            </a:pPr>
            <a:r>
              <a:rPr sz="3375" b="1">
                <a:solidFill>
                  <a:srgbClr val="000000"/>
                </a:solidFill>
              </a:rPr>
              <a:t>A force across the system</a:t>
            </a:r>
          </a:p>
        </p:txBody>
      </p:sp>
      <p:sp>
        <p:nvSpPr>
          <p:cNvPr id="4" name="page-12">
            <a:extLst xmlns:a="http://schemas.openxmlformats.org/drawingml/2006/main">
              <a:ext uri="{FF2B5EF4-FFF2-40B4-BE49-F238E27FC236}">
                <a16:creationId xmlns:a16="http://schemas.microsoft.com/office/drawing/2014/main" id="{B26F8E27-928C-43E8-8619-F7C2F8841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647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E6269"/>
                </a:solidFill>
              </a:defRPr>
            </a:pPr>
            <a:r>
              <a:rPr sz="975" b="0">
                <a:solidFill>
                  <a:srgbClr val="5E6269"/>
                </a:solidFill>
              </a:rPr>
              <a:t>12</a:t>
            </a:r>
          </a:p>
        </p:txBody>
      </p:sp>
      <p:sp>
        <p:nvSpPr>
          <p:cNvPr id="5" name="progress-12-0">
            <a:extLst xmlns:a="http://schemas.openxmlformats.org/drawingml/2006/main">
              <a:ext uri="{FF2B5EF4-FFF2-40B4-BE49-F238E27FC236}">
                <a16:creationId xmlns:a16="http://schemas.microsoft.com/office/drawing/2014/main" id="{3F00D3B9-DDE7-4A64-AAC0-0F0AB775C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66700"/>
            <a:ext cx="6858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000000"/>
                </a:solidFill>
              </a:defRPr>
            </a:pPr>
            <a:r>
              <a:rPr sz="825" b="1">
                <a:solidFill>
                  <a:srgbClr val="000000"/>
                </a:solidFill>
              </a:rPr>
              <a:t>Code</a:t>
            </a:r>
          </a:p>
        </p:txBody>
      </p:sp>
      <p:sp>
        <p:nvSpPr>
          <p:cNvPr id="6" name="progress-12-1">
            <a:extLst xmlns:a="http://schemas.openxmlformats.org/drawingml/2006/main">
              <a:ext uri="{FF2B5EF4-FFF2-40B4-BE49-F238E27FC236}">
                <a16:creationId xmlns:a16="http://schemas.microsoft.com/office/drawing/2014/main" id="{80768DBE-12F1-4E31-BFDC-6D40009F4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66700"/>
            <a:ext cx="6858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000000"/>
                </a:solidFill>
              </a:defRPr>
            </a:pPr>
            <a:r>
              <a:rPr sz="825" b="1">
                <a:solidFill>
                  <a:srgbClr val="000000"/>
                </a:solidFill>
              </a:rPr>
              <a:t>Delivery</a:t>
            </a:r>
          </a:p>
        </p:txBody>
      </p:sp>
      <p:sp>
        <p:nvSpPr>
          <p:cNvPr id="7" name="progress-12-2">
            <a:extLst xmlns:a="http://schemas.openxmlformats.org/drawingml/2006/main">
              <a:ext uri="{FF2B5EF4-FFF2-40B4-BE49-F238E27FC236}">
                <a16:creationId xmlns:a16="http://schemas.microsoft.com/office/drawing/2014/main" id="{372B67D6-EB7D-470E-9460-87757E203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266700"/>
            <a:ext cx="6858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AI</a:t>
            </a:r>
          </a:p>
        </p:txBody>
      </p:sp>
      <p:sp>
        <p:nvSpPr>
          <p:cNvPr id="8" name="progress-12-3">
            <a:extLst xmlns:a="http://schemas.openxmlformats.org/drawingml/2006/main">
              <a:ext uri="{FF2B5EF4-FFF2-40B4-BE49-F238E27FC236}">
                <a16:creationId xmlns:a16="http://schemas.microsoft.com/office/drawing/2014/main" id="{B57BB07E-0BD2-48F1-B08F-A5BB578BD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266700"/>
            <a:ext cx="6858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5E6269"/>
                </a:solidFill>
              </a:defRPr>
            </a:pPr>
            <a:r>
              <a:rPr sz="825" b="1">
                <a:solidFill>
                  <a:srgbClr val="5E6269"/>
                </a:solidFill>
              </a:rPr>
              <a:t>Product</a:t>
            </a:r>
          </a:p>
        </p:txBody>
      </p:sp>
      <p:sp>
        <p:nvSpPr>
          <p:cNvPr id="9" name="progress-12-4">
            <a:extLst xmlns:a="http://schemas.openxmlformats.org/drawingml/2006/main">
              <a:ext uri="{FF2B5EF4-FFF2-40B4-BE49-F238E27FC236}">
                <a16:creationId xmlns:a16="http://schemas.microsoft.com/office/drawing/2014/main" id="{2C86248F-9E3A-41C5-82DA-5D9B3B865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2325" y="266700"/>
            <a:ext cx="6858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5E6269"/>
                </a:solidFill>
              </a:defRPr>
            </a:pPr>
            <a:r>
              <a:rPr sz="825" b="1">
                <a:solidFill>
                  <a:srgbClr val="5E6269"/>
                </a:solidFill>
              </a:rPr>
              <a:t>People</a:t>
            </a:r>
          </a:p>
        </p:txBody>
      </p:sp>
      <p:sp>
        <p:nvSpPr>
          <p:cNvPr id="10" name="ai-cross-0">
            <a:extLst xmlns:a="http://schemas.openxmlformats.org/drawingml/2006/main">
              <a:ext uri="{FF2B5EF4-FFF2-40B4-BE49-F238E27FC236}">
                <a16:creationId xmlns:a16="http://schemas.microsoft.com/office/drawing/2014/main" id="{DCC48D5D-D283-4F60-B089-67DA75074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219075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Code</a:t>
            </a:r>
          </a:p>
        </p:txBody>
      </p:sp>
      <p:sp>
        <p:nvSpPr>
          <p:cNvPr id="11" name="ai-cross-1">
            <a:extLst xmlns:a="http://schemas.openxmlformats.org/drawingml/2006/main">
              <a:ext uri="{FF2B5EF4-FFF2-40B4-BE49-F238E27FC236}">
                <a16:creationId xmlns:a16="http://schemas.microsoft.com/office/drawing/2014/main" id="{37285FBB-FB38-4ECA-A7A6-0514E3042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43250"/>
            <a:ext cx="219075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Delivery</a:t>
            </a:r>
          </a:p>
        </p:txBody>
      </p:sp>
      <p:sp>
        <p:nvSpPr>
          <p:cNvPr id="12" name="ai-cross-2">
            <a:extLst xmlns:a="http://schemas.openxmlformats.org/drawingml/2006/main">
              <a:ext uri="{FF2B5EF4-FFF2-40B4-BE49-F238E27FC236}">
                <a16:creationId xmlns:a16="http://schemas.microsoft.com/office/drawing/2014/main" id="{4F5557E1-3745-4DA5-ABF0-237F38987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43250"/>
            <a:ext cx="219075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Product</a:t>
            </a:r>
          </a:p>
        </p:txBody>
      </p:sp>
      <p:sp>
        <p:nvSpPr>
          <p:cNvPr id="13" name="ai-cross-3">
            <a:extLst xmlns:a="http://schemas.openxmlformats.org/drawingml/2006/main">
              <a:ext uri="{FF2B5EF4-FFF2-40B4-BE49-F238E27FC236}">
                <a16:creationId xmlns:a16="http://schemas.microsoft.com/office/drawing/2014/main" id="{BF324197-457D-4053-A0D8-25FFE5297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143250"/>
            <a:ext cx="219075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People</a:t>
            </a:r>
          </a:p>
        </p:txBody>
      </p:sp>
      <p:cxnSp>
        <p:nvCxnSpPr>
          <p:cNvPr id="50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857500" y="352425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  <a:tailEnd type="triangle" w="med" len="med"/>
          </a:ln>
        </p:spPr>
      </p:cxnSp>
      <p:cxnSp>
        <p:nvCxnSpPr>
          <p:cNvPr id="51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715000" y="352425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  <a:tailEnd type="triangle" w="med" len="med"/>
          </a:ln>
        </p:spPr>
      </p:cxnSp>
      <p:cxnSp>
        <p:nvCxnSpPr>
          <p:cNvPr id="52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572500" y="352425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  <a:tailEnd type="triangle" w="med" len="med"/>
          </a:ln>
        </p:spPr>
      </p:cxnSp>
      <p:sp>
        <p:nvSpPr>
          <p:cNvPr id="17" name="ai-layer">
            <a:extLst xmlns:a="http://schemas.openxmlformats.org/drawingml/2006/main">
              <a:ext uri="{FF2B5EF4-FFF2-40B4-BE49-F238E27FC236}">
                <a16:creationId xmlns:a16="http://schemas.microsoft.com/office/drawing/2014/main" id="{9D624972-0351-4B07-BDFC-2E81DDCF0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28875"/>
            <a:ext cx="11144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ai-layer-label">
            <a:extLst xmlns:a="http://schemas.openxmlformats.org/drawingml/2006/main">
              <a:ext uri="{FF2B5EF4-FFF2-40B4-BE49-F238E27FC236}">
                <a16:creationId xmlns:a16="http://schemas.microsoft.com/office/drawing/2014/main" id="{1FF37BCA-05AE-4D03-A0ED-16DE8C71E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52625"/>
            <a:ext cx="657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3D8DFF"/>
                </a:solidFill>
              </a:defRPr>
            </a:pPr>
            <a:r>
              <a:rPr sz="1875" b="1">
                <a:solidFill>
                  <a:srgbClr val="3D8DFF"/>
                </a:solidFill>
              </a:rPr>
              <a:t>AI can speed work across the path</a:t>
            </a:r>
          </a:p>
        </p:txBody>
      </p:sp>
      <p:sp>
        <p:nvSpPr>
          <p:cNvPr id="19" name="ai-definition">
            <a:extLst xmlns:a="http://schemas.openxmlformats.org/drawingml/2006/main">
              <a:ext uri="{FF2B5EF4-FFF2-40B4-BE49-F238E27FC236}">
                <a16:creationId xmlns:a16="http://schemas.microsoft.com/office/drawing/2014/main" id="{64B6382C-69E6-465F-9972-8FE2D98B4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00000"/>
                </a:solidFill>
              </a:defRPr>
            </a:pPr>
            <a:r>
              <a:rPr sz="2325" b="1">
                <a:solidFill>
                  <a:srgbClr val="000000"/>
                </a:solidFill>
              </a:rPr>
              <a:t>Making one step faster helps until another step becomes the limit.</a:t>
            </a:r>
          </a:p>
        </p:txBody>
      </p:sp>
      <p:sp>
        <p:nvSpPr>
          <p:cNvPr id="20" name="ai-formal">
            <a:extLst xmlns:a="http://schemas.openxmlformats.org/drawingml/2006/main">
              <a:ext uri="{FF2B5EF4-FFF2-40B4-BE49-F238E27FC236}">
                <a16:creationId xmlns:a16="http://schemas.microsoft.com/office/drawing/2014/main" id="{D34E7D97-300C-48FA-8874-01CE7DD26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5E6269"/>
                </a:solidFill>
              </a:defRPr>
            </a:pPr>
            <a:r>
              <a:rPr sz="1725" b="1">
                <a:solidFill>
                  <a:srgbClr val="5E6269"/>
                </a:solidFill>
              </a:rPr>
              <a:t>That limiting step is the bottleneck.</a:t>
            </a:r>
          </a:p>
        </p:txBody>
      </p:sp>
    </p:spTree>
    <p:extLst>
      <p:ext uri="{BB962C8B-B14F-4D97-AF65-F5344CB8AC3E}">
        <p14:creationId xmlns:p14="http://schemas.microsoft.com/office/powerpoint/2010/main" val="193471779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-13">
            <a:extLst xmlns:a="http://schemas.openxmlformats.org/drawingml/2006/main">
              <a:ext uri="{FF2B5EF4-FFF2-40B4-BE49-F238E27FC236}">
                <a16:creationId xmlns:a16="http://schemas.microsoft.com/office/drawing/2014/main" id="{8F170E4C-AF62-461C-BB8B-C27775390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13">
            <a:extLst xmlns:a="http://schemas.openxmlformats.org/drawingml/2006/main">
              <a:ext uri="{FF2B5EF4-FFF2-40B4-BE49-F238E27FC236}">
                <a16:creationId xmlns:a16="http://schemas.microsoft.com/office/drawing/2014/main" id="{46C9725F-FBDC-461D-805B-D025B0B4A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28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E6269"/>
                </a:solidFill>
              </a:defRPr>
            </a:pPr>
            <a:r>
              <a:rPr sz="1350" b="1">
                <a:solidFill>
                  <a:srgbClr val="5E6269"/>
                </a:solidFill>
              </a:rPr>
              <a:t>AI · RECOGNISE IT</a:t>
            </a:r>
          </a:p>
        </p:txBody>
      </p:sp>
      <p:sp>
        <p:nvSpPr>
          <p:cNvPr id="3" name="title-13">
            <a:extLst xmlns:a="http://schemas.openxmlformats.org/drawingml/2006/main">
              <a:ext uri="{FF2B5EF4-FFF2-40B4-BE49-F238E27FC236}">
                <a16:creationId xmlns:a16="http://schemas.microsoft.com/office/drawing/2014/main" id="{507C243A-3298-4904-9CA7-DBBE8D5B0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3919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75" b="1">
                <a:solidFill>
                  <a:srgbClr val="000000"/>
                </a:solidFill>
              </a:defRPr>
            </a:pPr>
            <a:r>
              <a:rPr sz="3375" b="1">
                <a:solidFill>
                  <a:srgbClr val="000000"/>
                </a:solidFill>
              </a:rPr>
              <a:t>Three quick questions</a:t>
            </a:r>
          </a:p>
        </p:txBody>
      </p:sp>
      <p:sp>
        <p:nvSpPr>
          <p:cNvPr id="4" name="page-13">
            <a:extLst xmlns:a="http://schemas.openxmlformats.org/drawingml/2006/main">
              <a:ext uri="{FF2B5EF4-FFF2-40B4-BE49-F238E27FC236}">
                <a16:creationId xmlns:a16="http://schemas.microsoft.com/office/drawing/2014/main" id="{258DDC61-548B-4C6B-81B1-7C82958CA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647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E6269"/>
                </a:solidFill>
              </a:defRPr>
            </a:pPr>
            <a:r>
              <a:rPr sz="975" b="0">
                <a:solidFill>
                  <a:srgbClr val="5E6269"/>
                </a:solidFill>
              </a:rPr>
              <a:t>13</a:t>
            </a:r>
          </a:p>
        </p:txBody>
      </p:sp>
      <p:sp>
        <p:nvSpPr>
          <p:cNvPr id="5" name="progress-13-0">
            <a:extLst xmlns:a="http://schemas.openxmlformats.org/drawingml/2006/main">
              <a:ext uri="{FF2B5EF4-FFF2-40B4-BE49-F238E27FC236}">
                <a16:creationId xmlns:a16="http://schemas.microsoft.com/office/drawing/2014/main" id="{3A61E0EF-4B07-468F-B084-E6A18C8D1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66700"/>
            <a:ext cx="6858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000000"/>
                </a:solidFill>
              </a:defRPr>
            </a:pPr>
            <a:r>
              <a:rPr sz="825" b="1">
                <a:solidFill>
                  <a:srgbClr val="000000"/>
                </a:solidFill>
              </a:rPr>
              <a:t>Code</a:t>
            </a:r>
          </a:p>
        </p:txBody>
      </p:sp>
      <p:sp>
        <p:nvSpPr>
          <p:cNvPr id="6" name="progress-13-1">
            <a:extLst xmlns:a="http://schemas.openxmlformats.org/drawingml/2006/main">
              <a:ext uri="{FF2B5EF4-FFF2-40B4-BE49-F238E27FC236}">
                <a16:creationId xmlns:a16="http://schemas.microsoft.com/office/drawing/2014/main" id="{09CA2248-A4C7-4A02-8C7C-4A461EF56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66700"/>
            <a:ext cx="6858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000000"/>
                </a:solidFill>
              </a:defRPr>
            </a:pPr>
            <a:r>
              <a:rPr sz="825" b="1">
                <a:solidFill>
                  <a:srgbClr val="000000"/>
                </a:solidFill>
              </a:rPr>
              <a:t>Delivery</a:t>
            </a:r>
          </a:p>
        </p:txBody>
      </p:sp>
      <p:sp>
        <p:nvSpPr>
          <p:cNvPr id="7" name="progress-13-2">
            <a:extLst xmlns:a="http://schemas.openxmlformats.org/drawingml/2006/main">
              <a:ext uri="{FF2B5EF4-FFF2-40B4-BE49-F238E27FC236}">
                <a16:creationId xmlns:a16="http://schemas.microsoft.com/office/drawing/2014/main" id="{7992EF15-A678-40E9-9BEF-F72C9386D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266700"/>
            <a:ext cx="6858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AI</a:t>
            </a:r>
          </a:p>
        </p:txBody>
      </p:sp>
      <p:sp>
        <p:nvSpPr>
          <p:cNvPr id="8" name="progress-13-3">
            <a:extLst xmlns:a="http://schemas.openxmlformats.org/drawingml/2006/main">
              <a:ext uri="{FF2B5EF4-FFF2-40B4-BE49-F238E27FC236}">
                <a16:creationId xmlns:a16="http://schemas.microsoft.com/office/drawing/2014/main" id="{CDB8AE9C-B03D-4BB3-B4E2-006054DB1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266700"/>
            <a:ext cx="6858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5E6269"/>
                </a:solidFill>
              </a:defRPr>
            </a:pPr>
            <a:r>
              <a:rPr sz="825" b="1">
                <a:solidFill>
                  <a:srgbClr val="5E6269"/>
                </a:solidFill>
              </a:rPr>
              <a:t>Product</a:t>
            </a:r>
          </a:p>
        </p:txBody>
      </p:sp>
      <p:sp>
        <p:nvSpPr>
          <p:cNvPr id="9" name="progress-13-4">
            <a:extLst xmlns:a="http://schemas.openxmlformats.org/drawingml/2006/main">
              <a:ext uri="{FF2B5EF4-FFF2-40B4-BE49-F238E27FC236}">
                <a16:creationId xmlns:a16="http://schemas.microsoft.com/office/drawing/2014/main" id="{136D9D87-9D0F-4B32-9E2B-5302C416A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2325" y="266700"/>
            <a:ext cx="6858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5E6269"/>
                </a:solidFill>
              </a:defRPr>
            </a:pPr>
            <a:r>
              <a:rPr sz="825" b="1">
                <a:solidFill>
                  <a:srgbClr val="5E6269"/>
                </a:solidFill>
              </a:rPr>
              <a:t>People</a:t>
            </a:r>
          </a:p>
        </p:txBody>
      </p:sp>
      <p:sp>
        <p:nvSpPr>
          <p:cNvPr id="10" name="q-num-bg-0">
            <a:extLst xmlns:a="http://schemas.openxmlformats.org/drawingml/2006/main">
              <a:ext uri="{FF2B5EF4-FFF2-40B4-BE49-F238E27FC236}">
                <a16:creationId xmlns:a16="http://schemas.microsoft.com/office/drawing/2014/main" id="{4F91D6A0-6411-4CE0-971D-2D5A10F75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5905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q-num-0">
            <a:extLst xmlns:a="http://schemas.openxmlformats.org/drawingml/2006/main">
              <a:ext uri="{FF2B5EF4-FFF2-40B4-BE49-F238E27FC236}">
                <a16:creationId xmlns:a16="http://schemas.microsoft.com/office/drawing/2014/main" id="{DF54C554-82D4-4A78-88DB-81B48FFA3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5950"/>
            <a:ext cx="590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12" name="q-text-0">
            <a:extLst xmlns:a="http://schemas.openxmlformats.org/drawingml/2006/main">
              <a:ext uri="{FF2B5EF4-FFF2-40B4-BE49-F238E27FC236}">
                <a16:creationId xmlns:a16="http://schemas.microsoft.com/office/drawing/2014/main" id="{7DEA2B61-F45C-4EBE-90EC-03D8C9F48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809750"/>
            <a:ext cx="971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000000"/>
                </a:solidFill>
              </a:defRPr>
            </a:pPr>
            <a:r>
              <a:rPr sz="2475" b="1">
                <a:solidFill>
                  <a:srgbClr val="000000"/>
                </a:solidFill>
              </a:rPr>
              <a:t>Who uses AI while coding?</a:t>
            </a:r>
          </a:p>
        </p:txBody>
      </p:sp>
      <p:sp>
        <p:nvSpPr>
          <p:cNvPr id="13" name="q-num-bg-1">
            <a:extLst xmlns:a="http://schemas.openxmlformats.org/drawingml/2006/main">
              <a:ext uri="{FF2B5EF4-FFF2-40B4-BE49-F238E27FC236}">
                <a16:creationId xmlns:a16="http://schemas.microsoft.com/office/drawing/2014/main" id="{5A005A90-4D19-402F-9117-ACF3E386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95625"/>
            <a:ext cx="5905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q-num-1">
            <a:extLst xmlns:a="http://schemas.openxmlformats.org/drawingml/2006/main">
              <a:ext uri="{FF2B5EF4-FFF2-40B4-BE49-F238E27FC236}">
                <a16:creationId xmlns:a16="http://schemas.microsoft.com/office/drawing/2014/main" id="{31B5BF41-CF3D-482F-9D4A-7079B24C2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71825"/>
            <a:ext cx="590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5" name="q-text-1">
            <a:extLst xmlns:a="http://schemas.openxmlformats.org/drawingml/2006/main">
              <a:ext uri="{FF2B5EF4-FFF2-40B4-BE49-F238E27FC236}">
                <a16:creationId xmlns:a16="http://schemas.microsoft.com/office/drawing/2014/main" id="{563634E2-419B-4213-9AE8-46FAD633A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95625"/>
            <a:ext cx="971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000000"/>
                </a:solidFill>
              </a:defRPr>
            </a:pPr>
            <a:r>
              <a:rPr sz="2475" b="1">
                <a:solidFill>
                  <a:srgbClr val="000000"/>
                </a:solidFill>
              </a:rPr>
              <a:t>Who feels writing code became faster?</a:t>
            </a:r>
          </a:p>
        </p:txBody>
      </p:sp>
      <p:sp>
        <p:nvSpPr>
          <p:cNvPr id="16" name="q-num-bg-2">
            <a:extLst xmlns:a="http://schemas.openxmlformats.org/drawingml/2006/main">
              <a:ext uri="{FF2B5EF4-FFF2-40B4-BE49-F238E27FC236}">
                <a16:creationId xmlns:a16="http://schemas.microsoft.com/office/drawing/2014/main" id="{2F25061B-DE04-4C45-8E64-6222CEED4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0"/>
            <a:ext cx="5905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q-num-2">
            <a:extLst xmlns:a="http://schemas.openxmlformats.org/drawingml/2006/main">
              <a:ext uri="{FF2B5EF4-FFF2-40B4-BE49-F238E27FC236}">
                <a16:creationId xmlns:a16="http://schemas.microsoft.com/office/drawing/2014/main" id="{0B13CBA1-5F71-4FC7-9D50-0787A8080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57700"/>
            <a:ext cx="590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q-text-2">
            <a:extLst xmlns:a="http://schemas.openxmlformats.org/drawingml/2006/main">
              <a:ext uri="{FF2B5EF4-FFF2-40B4-BE49-F238E27FC236}">
                <a16:creationId xmlns:a16="http://schemas.microsoft.com/office/drawing/2014/main" id="{E4A51F6B-182F-442B-85F3-53F253329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81500"/>
            <a:ext cx="971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00000"/>
                </a:solidFill>
              </a:defRPr>
            </a:pPr>
            <a:r>
              <a:rPr sz="2175" b="1">
                <a:solidFill>
                  <a:srgbClr val="000000"/>
                </a:solidFill>
              </a:rPr>
              <a:t>Who feels reviewing, understanding, testing, and shipping became equally faster?</a:t>
            </a:r>
          </a:p>
        </p:txBody>
      </p:sp>
      <p:sp>
        <p:nvSpPr>
          <p:cNvPr id="19" name="ai-poll-note">
            <a:extLst xmlns:a="http://schemas.openxmlformats.org/drawingml/2006/main">
              <a:ext uri="{FF2B5EF4-FFF2-40B4-BE49-F238E27FC236}">
                <a16:creationId xmlns:a16="http://schemas.microsoft.com/office/drawing/2014/main" id="{B35C60CB-8C04-4EC7-B0E8-833ED5D8D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5E6269"/>
                </a:solidFill>
              </a:defRPr>
            </a:pPr>
            <a:r>
              <a:rPr sz="1575" b="1">
                <a:solidFill>
                  <a:srgbClr val="5E6269"/>
                </a:solidFill>
              </a:rPr>
              <a:t>Watch where the hands change.</a:t>
            </a:r>
          </a:p>
        </p:txBody>
      </p:sp>
    </p:spTree>
    <p:extLst>
      <p:ext uri="{BB962C8B-B14F-4D97-AF65-F5344CB8AC3E}">
        <p14:creationId xmlns:p14="http://schemas.microsoft.com/office/powerpoint/2010/main" val="102654329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-14">
            <a:extLst xmlns:a="http://schemas.openxmlformats.org/drawingml/2006/main">
              <a:ext uri="{FF2B5EF4-FFF2-40B4-BE49-F238E27FC236}">
                <a16:creationId xmlns:a16="http://schemas.microsoft.com/office/drawing/2014/main" id="{30B74DBC-F001-45F2-B51A-9BC54220A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14">
            <a:extLst xmlns:a="http://schemas.openxmlformats.org/drawingml/2006/main">
              <a:ext uri="{FF2B5EF4-FFF2-40B4-BE49-F238E27FC236}">
                <a16:creationId xmlns:a16="http://schemas.microsoft.com/office/drawing/2014/main" id="{BCC44D0F-DE4B-40BC-93EA-06C83ABB3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28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E6269"/>
                </a:solidFill>
              </a:defRPr>
            </a:pPr>
            <a:r>
              <a:rPr sz="1350" b="1">
                <a:solidFill>
                  <a:srgbClr val="5E6269"/>
                </a:solidFill>
              </a:rPr>
              <a:t>AI · EXPLAIN IT</a:t>
            </a:r>
          </a:p>
        </p:txBody>
      </p:sp>
      <p:sp>
        <p:nvSpPr>
          <p:cNvPr id="3" name="title-14">
            <a:extLst xmlns:a="http://schemas.openxmlformats.org/drawingml/2006/main">
              <a:ext uri="{FF2B5EF4-FFF2-40B4-BE49-F238E27FC236}">
                <a16:creationId xmlns:a16="http://schemas.microsoft.com/office/drawing/2014/main" id="{DE20A845-DF6E-430C-B05C-624A6A7DE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3919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75" b="1">
                <a:solidFill>
                  <a:srgbClr val="000000"/>
                </a:solidFill>
              </a:defRPr>
            </a:pPr>
            <a:r>
              <a:rPr sz="3375" b="1">
                <a:solidFill>
                  <a:srgbClr val="000000"/>
                </a:solidFill>
              </a:rPr>
              <a:t>The bottleneck moves</a:t>
            </a:r>
          </a:p>
        </p:txBody>
      </p:sp>
      <p:sp>
        <p:nvSpPr>
          <p:cNvPr id="4" name="page-14">
            <a:extLst xmlns:a="http://schemas.openxmlformats.org/drawingml/2006/main">
              <a:ext uri="{FF2B5EF4-FFF2-40B4-BE49-F238E27FC236}">
                <a16:creationId xmlns:a16="http://schemas.microsoft.com/office/drawing/2014/main" id="{7DD4C226-915A-4A56-BE86-A4900F7D2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647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E6269"/>
                </a:solidFill>
              </a:defRPr>
            </a:pPr>
            <a:r>
              <a:rPr sz="975" b="0">
                <a:solidFill>
                  <a:srgbClr val="5E6269"/>
                </a:solidFill>
              </a:rPr>
              <a:t>14</a:t>
            </a:r>
          </a:p>
        </p:txBody>
      </p:sp>
      <p:sp>
        <p:nvSpPr>
          <p:cNvPr id="5" name="progress-14-0">
            <a:extLst xmlns:a="http://schemas.openxmlformats.org/drawingml/2006/main">
              <a:ext uri="{FF2B5EF4-FFF2-40B4-BE49-F238E27FC236}">
                <a16:creationId xmlns:a16="http://schemas.microsoft.com/office/drawing/2014/main" id="{3F5B0700-E218-4EC2-BC79-1958CA8CD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66700"/>
            <a:ext cx="6858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000000"/>
                </a:solidFill>
              </a:defRPr>
            </a:pPr>
            <a:r>
              <a:rPr sz="825" b="1">
                <a:solidFill>
                  <a:srgbClr val="000000"/>
                </a:solidFill>
              </a:rPr>
              <a:t>Code</a:t>
            </a:r>
          </a:p>
        </p:txBody>
      </p:sp>
      <p:sp>
        <p:nvSpPr>
          <p:cNvPr id="6" name="progress-14-1">
            <a:extLst xmlns:a="http://schemas.openxmlformats.org/drawingml/2006/main">
              <a:ext uri="{FF2B5EF4-FFF2-40B4-BE49-F238E27FC236}">
                <a16:creationId xmlns:a16="http://schemas.microsoft.com/office/drawing/2014/main" id="{0F74C551-DB2A-4242-A873-F8E351965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66700"/>
            <a:ext cx="6858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000000"/>
                </a:solidFill>
              </a:defRPr>
            </a:pPr>
            <a:r>
              <a:rPr sz="825" b="1">
                <a:solidFill>
                  <a:srgbClr val="000000"/>
                </a:solidFill>
              </a:rPr>
              <a:t>Delivery</a:t>
            </a:r>
          </a:p>
        </p:txBody>
      </p:sp>
      <p:sp>
        <p:nvSpPr>
          <p:cNvPr id="7" name="progress-14-2">
            <a:extLst xmlns:a="http://schemas.openxmlformats.org/drawingml/2006/main">
              <a:ext uri="{FF2B5EF4-FFF2-40B4-BE49-F238E27FC236}">
                <a16:creationId xmlns:a16="http://schemas.microsoft.com/office/drawing/2014/main" id="{ABBDD890-B8D9-4312-9A00-4468BB695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266700"/>
            <a:ext cx="6858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AI</a:t>
            </a:r>
          </a:p>
        </p:txBody>
      </p:sp>
      <p:sp>
        <p:nvSpPr>
          <p:cNvPr id="8" name="progress-14-3">
            <a:extLst xmlns:a="http://schemas.openxmlformats.org/drawingml/2006/main">
              <a:ext uri="{FF2B5EF4-FFF2-40B4-BE49-F238E27FC236}">
                <a16:creationId xmlns:a16="http://schemas.microsoft.com/office/drawing/2014/main" id="{B69CBE2D-D538-426E-99BE-2FEB176F1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266700"/>
            <a:ext cx="6858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5E6269"/>
                </a:solidFill>
              </a:defRPr>
            </a:pPr>
            <a:r>
              <a:rPr sz="825" b="1">
                <a:solidFill>
                  <a:srgbClr val="5E6269"/>
                </a:solidFill>
              </a:rPr>
              <a:t>Product</a:t>
            </a:r>
          </a:p>
        </p:txBody>
      </p:sp>
      <p:sp>
        <p:nvSpPr>
          <p:cNvPr id="9" name="progress-14-4">
            <a:extLst xmlns:a="http://schemas.openxmlformats.org/drawingml/2006/main">
              <a:ext uri="{FF2B5EF4-FFF2-40B4-BE49-F238E27FC236}">
                <a16:creationId xmlns:a16="http://schemas.microsoft.com/office/drawing/2014/main" id="{33960D61-CEEF-4E32-936C-6066A5F63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2325" y="266700"/>
            <a:ext cx="6858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5E6269"/>
                </a:solidFill>
              </a:defRPr>
            </a:pPr>
            <a:r>
              <a:rPr sz="825" b="1">
                <a:solidFill>
                  <a:srgbClr val="5E6269"/>
                </a:solidFill>
              </a:rPr>
              <a:t>People</a:t>
            </a:r>
          </a:p>
        </p:txBody>
      </p:sp>
      <p:sp>
        <p:nvSpPr>
          <p:cNvPr id="10" name="pipe-create">
            <a:extLst xmlns:a="http://schemas.openxmlformats.org/drawingml/2006/main">
              <a:ext uri="{FF2B5EF4-FFF2-40B4-BE49-F238E27FC236}">
                <a16:creationId xmlns:a16="http://schemas.microsoft.com/office/drawing/2014/main" id="{9D124EAB-4DD1-4366-AF54-978E13D32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57500"/>
            <a:ext cx="19050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Create</a:t>
            </a:r>
          </a:p>
        </p:txBody>
      </p:sp>
      <p:sp>
        <p:nvSpPr>
          <p:cNvPr id="11" name="pipe-review">
            <a:extLst xmlns:a="http://schemas.openxmlformats.org/drawingml/2006/main">
              <a:ext uri="{FF2B5EF4-FFF2-40B4-BE49-F238E27FC236}">
                <a16:creationId xmlns:a16="http://schemas.microsoft.com/office/drawing/2014/main" id="{9D93E947-1B8E-458A-832D-0BAC99EC7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714625"/>
            <a:ext cx="21907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Understand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and review</a:t>
            </a:r>
          </a:p>
        </p:txBody>
      </p:sp>
      <p:sp>
        <p:nvSpPr>
          <p:cNvPr id="12" name="pipe-test">
            <a:extLst xmlns:a="http://schemas.openxmlformats.org/drawingml/2006/main">
              <a:ext uri="{FF2B5EF4-FFF2-40B4-BE49-F238E27FC236}">
                <a16:creationId xmlns:a16="http://schemas.microsoft.com/office/drawing/2014/main" id="{84455DC0-EB8F-4260-B6BE-CAEEAE8BC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714625"/>
            <a:ext cx="21907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Test and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integrate</a:t>
            </a:r>
          </a:p>
        </p:txBody>
      </p:sp>
      <p:sp>
        <p:nvSpPr>
          <p:cNvPr id="13" name="pipe-run">
            <a:extLst xmlns:a="http://schemas.openxmlformats.org/drawingml/2006/main">
              <a:ext uri="{FF2B5EF4-FFF2-40B4-BE49-F238E27FC236}">
                <a16:creationId xmlns:a16="http://schemas.microsoft.com/office/drawing/2014/main" id="{4C0A0EB7-C8CC-4D7B-A828-D5306A7C7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714625"/>
            <a:ext cx="17145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Run and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maintain</a:t>
            </a:r>
          </a:p>
        </p:txBody>
      </p:sp>
      <p:cxnSp>
        <p:nvCxnSpPr>
          <p:cNvPr id="53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428875" y="3276600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0">
            <a:solidFill>
              <a:srgbClr val="3D8DFF"/>
            </a:solidFill>
            <a:prstDash val="solid"/>
            <a:tailEnd type="triangle" w="med" len="med"/>
          </a:ln>
        </p:spPr>
      </p:cxnSp>
      <p:cxnSp>
        <p:nvCxnSpPr>
          <p:cNvPr id="54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6048375" y="3276600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  <a:tailEnd type="triangle" w="med" len="med"/>
          </a:ln>
        </p:spPr>
      </p:cxnSp>
      <p:cxnSp>
        <p:nvCxnSpPr>
          <p:cNvPr id="55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9382125" y="3276600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  <a:tailEnd type="triangle" w="med" len="med"/>
          </a:ln>
        </p:spPr>
      </p:cxnSp>
      <p:sp>
        <p:nvSpPr>
          <p:cNvPr id="17" name="queue-0">
            <a:extLst xmlns:a="http://schemas.openxmlformats.org/drawingml/2006/main">
              <a:ext uri="{FF2B5EF4-FFF2-40B4-BE49-F238E27FC236}">
                <a16:creationId xmlns:a16="http://schemas.microsoft.com/office/drawing/2014/main" id="{490AD211-16A4-4E33-BE0A-16B44978B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9075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queue-1">
            <a:extLst xmlns:a="http://schemas.openxmlformats.org/drawingml/2006/main">
              <a:ext uri="{FF2B5EF4-FFF2-40B4-BE49-F238E27FC236}">
                <a16:creationId xmlns:a16="http://schemas.microsoft.com/office/drawing/2014/main" id="{D8AA8CDC-1C04-47EB-9EA5-50357EB88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0193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queue-2">
            <a:extLst xmlns:a="http://schemas.openxmlformats.org/drawingml/2006/main">
              <a:ext uri="{FF2B5EF4-FFF2-40B4-BE49-F238E27FC236}">
                <a16:creationId xmlns:a16="http://schemas.microsoft.com/office/drawing/2014/main" id="{43728776-EF7E-4F1D-8E5D-2A713EED7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84785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new-constraint">
            <a:extLst xmlns:a="http://schemas.openxmlformats.org/drawingml/2006/main">
              <a:ext uri="{FF2B5EF4-FFF2-40B4-BE49-F238E27FC236}">
                <a16:creationId xmlns:a16="http://schemas.microsoft.com/office/drawing/2014/main" id="{4CE441DB-5C13-45D2-8AB5-886E8E063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66687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new constraint</a:t>
            </a:r>
          </a:p>
        </p:txBody>
      </p:sp>
      <p:sp>
        <p:nvSpPr>
          <p:cNvPr id="21" name="pipeline-note">
            <a:extLst xmlns:a="http://schemas.openxmlformats.org/drawingml/2006/main">
              <a:ext uri="{FF2B5EF4-FFF2-40B4-BE49-F238E27FC236}">
                <a16:creationId xmlns:a16="http://schemas.microsoft.com/office/drawing/2014/main" id="{5926B7D6-7D1C-47B0-960E-6D2904564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Code creation is one flow—not the whole outcome.</a:t>
            </a:r>
          </a:p>
        </p:txBody>
      </p:sp>
      <p:sp>
        <p:nvSpPr>
          <p:cNvPr id="22" name="carry-rule-14">
            <a:extLst xmlns:a="http://schemas.openxmlformats.org/drawingml/2006/main">
              <a:ext uri="{FF2B5EF4-FFF2-40B4-BE49-F238E27FC236}">
                <a16:creationId xmlns:a16="http://schemas.microsoft.com/office/drawing/2014/main" id="{0B516FFB-9502-405F-8B6B-B05FE7167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293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carry-14">
            <a:extLst xmlns:a="http://schemas.openxmlformats.org/drawingml/2006/main">
              <a:ext uri="{FF2B5EF4-FFF2-40B4-BE49-F238E27FC236}">
                <a16:creationId xmlns:a16="http://schemas.microsoft.com/office/drawing/2014/main" id="{EA91541A-F952-4EB0-8298-61B79E8B9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10668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What became faster, and what became the new bottleneck?</a:t>
            </a:r>
          </a:p>
        </p:txBody>
      </p:sp>
    </p:spTree>
    <p:extLst>
      <p:ext uri="{BB962C8B-B14F-4D97-AF65-F5344CB8AC3E}">
        <p14:creationId xmlns:p14="http://schemas.microsoft.com/office/powerpoint/2010/main" val="103088355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-15">
            <a:extLst xmlns:a="http://schemas.openxmlformats.org/drawingml/2006/main">
              <a:ext uri="{FF2B5EF4-FFF2-40B4-BE49-F238E27FC236}">
                <a16:creationId xmlns:a16="http://schemas.microsoft.com/office/drawing/2014/main" id="{8F569EFC-8D1D-4E02-A65A-C4C313E6B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15">
            <a:extLst xmlns:a="http://schemas.openxmlformats.org/drawingml/2006/main">
              <a:ext uri="{FF2B5EF4-FFF2-40B4-BE49-F238E27FC236}">
                <a16:creationId xmlns:a16="http://schemas.microsoft.com/office/drawing/2014/main" id="{47E56E8C-1D1A-4C75-A6F9-2201B5B97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28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E6269"/>
                </a:solidFill>
              </a:defRPr>
            </a:pPr>
            <a:r>
              <a:rPr sz="1350" b="1">
                <a:solidFill>
                  <a:srgbClr val="5E6269"/>
                </a:solidFill>
              </a:rPr>
              <a:t>PRODUCT · NAME IT</a:t>
            </a:r>
          </a:p>
        </p:txBody>
      </p:sp>
      <p:sp>
        <p:nvSpPr>
          <p:cNvPr id="3" name="title-15">
            <a:extLst xmlns:a="http://schemas.openxmlformats.org/drawingml/2006/main">
              <a:ext uri="{FF2B5EF4-FFF2-40B4-BE49-F238E27FC236}">
                <a16:creationId xmlns:a16="http://schemas.microsoft.com/office/drawing/2014/main" id="{41C051CA-3269-43E0-B367-8178D4E0E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3919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75" b="1">
                <a:solidFill>
                  <a:srgbClr val="000000"/>
                </a:solidFill>
              </a:defRPr>
            </a:pPr>
            <a:r>
              <a:rPr sz="3375" b="1">
                <a:solidFill>
                  <a:srgbClr val="000000"/>
                </a:solidFill>
              </a:rPr>
              <a:t>The loop that steers</a:t>
            </a:r>
          </a:p>
        </p:txBody>
      </p:sp>
      <p:sp>
        <p:nvSpPr>
          <p:cNvPr id="4" name="page-15">
            <a:extLst xmlns:a="http://schemas.openxmlformats.org/drawingml/2006/main">
              <a:ext uri="{FF2B5EF4-FFF2-40B4-BE49-F238E27FC236}">
                <a16:creationId xmlns:a16="http://schemas.microsoft.com/office/drawing/2014/main" id="{57C68B88-5721-44F4-AA1D-F9580E062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647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E6269"/>
                </a:solidFill>
              </a:defRPr>
            </a:pPr>
            <a:r>
              <a:rPr sz="975" b="0">
                <a:solidFill>
                  <a:srgbClr val="5E6269"/>
                </a:solidFill>
              </a:rPr>
              <a:t>15</a:t>
            </a:r>
          </a:p>
        </p:txBody>
      </p:sp>
      <p:sp>
        <p:nvSpPr>
          <p:cNvPr id="5" name="progress-15-0">
            <a:extLst xmlns:a="http://schemas.openxmlformats.org/drawingml/2006/main">
              <a:ext uri="{FF2B5EF4-FFF2-40B4-BE49-F238E27FC236}">
                <a16:creationId xmlns:a16="http://schemas.microsoft.com/office/drawing/2014/main" id="{6FE8E98A-EDEA-4DA4-8EAA-39909BAA4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66700"/>
            <a:ext cx="6858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000000"/>
                </a:solidFill>
              </a:defRPr>
            </a:pPr>
            <a:r>
              <a:rPr sz="825" b="1">
                <a:solidFill>
                  <a:srgbClr val="000000"/>
                </a:solidFill>
              </a:rPr>
              <a:t>Code</a:t>
            </a:r>
          </a:p>
        </p:txBody>
      </p:sp>
      <p:sp>
        <p:nvSpPr>
          <p:cNvPr id="6" name="progress-15-1">
            <a:extLst xmlns:a="http://schemas.openxmlformats.org/drawingml/2006/main">
              <a:ext uri="{FF2B5EF4-FFF2-40B4-BE49-F238E27FC236}">
                <a16:creationId xmlns:a16="http://schemas.microsoft.com/office/drawing/2014/main" id="{21F08FF8-37AD-4592-AA08-D82006E41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66700"/>
            <a:ext cx="6858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000000"/>
                </a:solidFill>
              </a:defRPr>
            </a:pPr>
            <a:r>
              <a:rPr sz="825" b="1">
                <a:solidFill>
                  <a:srgbClr val="000000"/>
                </a:solidFill>
              </a:rPr>
              <a:t>Delivery</a:t>
            </a:r>
          </a:p>
        </p:txBody>
      </p:sp>
      <p:sp>
        <p:nvSpPr>
          <p:cNvPr id="7" name="progress-15-2">
            <a:extLst xmlns:a="http://schemas.openxmlformats.org/drawingml/2006/main">
              <a:ext uri="{FF2B5EF4-FFF2-40B4-BE49-F238E27FC236}">
                <a16:creationId xmlns:a16="http://schemas.microsoft.com/office/drawing/2014/main" id="{198EA676-2DC7-447F-920A-841C50F5F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266700"/>
            <a:ext cx="6858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000000"/>
                </a:solidFill>
              </a:defRPr>
            </a:pPr>
            <a:r>
              <a:rPr sz="825" b="1">
                <a:solidFill>
                  <a:srgbClr val="000000"/>
                </a:solidFill>
              </a:rPr>
              <a:t>AI</a:t>
            </a:r>
          </a:p>
        </p:txBody>
      </p:sp>
      <p:sp>
        <p:nvSpPr>
          <p:cNvPr id="8" name="progress-15-3">
            <a:extLst xmlns:a="http://schemas.openxmlformats.org/drawingml/2006/main">
              <a:ext uri="{FF2B5EF4-FFF2-40B4-BE49-F238E27FC236}">
                <a16:creationId xmlns:a16="http://schemas.microsoft.com/office/drawing/2014/main" id="{F079E170-77AB-4CD2-BDD7-C197FDB8A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266700"/>
            <a:ext cx="6858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Product</a:t>
            </a:r>
          </a:p>
        </p:txBody>
      </p:sp>
      <p:sp>
        <p:nvSpPr>
          <p:cNvPr id="9" name="progress-15-4">
            <a:extLst xmlns:a="http://schemas.openxmlformats.org/drawingml/2006/main">
              <a:ext uri="{FF2B5EF4-FFF2-40B4-BE49-F238E27FC236}">
                <a16:creationId xmlns:a16="http://schemas.microsoft.com/office/drawing/2014/main" id="{BD636218-6382-483B-AE03-6B309BA8F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2325" y="266700"/>
            <a:ext cx="6858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5E6269"/>
                </a:solidFill>
              </a:defRPr>
            </a:pPr>
            <a:r>
              <a:rPr sz="825" b="1">
                <a:solidFill>
                  <a:srgbClr val="5E6269"/>
                </a:solidFill>
              </a:rPr>
              <a:t>People</a:t>
            </a:r>
          </a:p>
        </p:txBody>
      </p:sp>
      <p:sp>
        <p:nvSpPr>
          <p:cNvPr id="10" name="bookend-code">
            <a:extLst xmlns:a="http://schemas.openxmlformats.org/drawingml/2006/main">
              <a:ext uri="{FF2B5EF4-FFF2-40B4-BE49-F238E27FC236}">
                <a16:creationId xmlns:a16="http://schemas.microsoft.com/office/drawing/2014/main" id="{2EDD5A30-D5DA-44F3-B748-DF8325616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52863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ookend-code-label">
            <a:extLst xmlns:a="http://schemas.openxmlformats.org/drawingml/2006/main">
              <a:ext uri="{FF2B5EF4-FFF2-40B4-BE49-F238E27FC236}">
                <a16:creationId xmlns:a16="http://schemas.microsoft.com/office/drawing/2014/main" id="{C3FB2986-4352-4698-A058-09880E817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E6269"/>
                </a:solidFill>
              </a:defRPr>
            </a:pPr>
            <a:r>
              <a:rPr sz="1350" b="1">
                <a:solidFill>
                  <a:srgbClr val="5E6269"/>
                </a:solidFill>
              </a:rPr>
              <a:t>CODE</a:t>
            </a:r>
          </a:p>
        </p:txBody>
      </p:sp>
      <p:sp>
        <p:nvSpPr>
          <p:cNvPr id="12" name="bookend-code-title">
            <a:extLst xmlns:a="http://schemas.openxmlformats.org/drawingml/2006/main">
              <a:ext uri="{FF2B5EF4-FFF2-40B4-BE49-F238E27FC236}">
                <a16:creationId xmlns:a16="http://schemas.microsoft.com/office/drawing/2014/main" id="{C6B653A4-0F7D-4ACB-A7F0-970F2405C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Reinforcing</a:t>
            </a:r>
          </a:p>
        </p:txBody>
      </p:sp>
      <p:sp>
        <p:nvSpPr>
          <p:cNvPr id="13" name="bookend-code-copy">
            <a:extLst xmlns:a="http://schemas.openxmlformats.org/drawingml/2006/main">
              <a:ext uri="{FF2B5EF4-FFF2-40B4-BE49-F238E27FC236}">
                <a16:creationId xmlns:a16="http://schemas.microsoft.com/office/drawing/2014/main" id="{654512B5-201A-4043-9E48-D0510AB2A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71875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5E6269"/>
                </a:solidFill>
              </a:defRPr>
            </a:pPr>
            <a:r>
              <a:rPr sz="1950" b="0">
                <a:solidFill>
                  <a:srgbClr val="5E6269"/>
                </a:solidFill>
              </a:rPr>
              <a:t>The loop amplifies the change.</a:t>
            </a:r>
          </a:p>
        </p:txBody>
      </p:sp>
      <p:sp>
        <p:nvSpPr>
          <p:cNvPr id="14" name="bookend-product">
            <a:extLst xmlns:a="http://schemas.openxmlformats.org/drawingml/2006/main">
              <a:ext uri="{FF2B5EF4-FFF2-40B4-BE49-F238E27FC236}">
                <a16:creationId xmlns:a16="http://schemas.microsoft.com/office/drawing/2014/main" id="{6AE95981-85BB-462A-94CB-FFE6329D8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56959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ookend-product-label">
            <a:extLst xmlns:a="http://schemas.openxmlformats.org/drawingml/2006/main">
              <a:ext uri="{FF2B5EF4-FFF2-40B4-BE49-F238E27FC236}">
                <a16:creationId xmlns:a16="http://schemas.microsoft.com/office/drawing/2014/main" id="{0A37FA66-5D53-4ACA-B6BE-0CE20F267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3837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PRODUCT</a:t>
            </a:r>
          </a:p>
        </p:txBody>
      </p:sp>
      <p:sp>
        <p:nvSpPr>
          <p:cNvPr id="16" name="bookend-product-title">
            <a:extLst xmlns:a="http://schemas.openxmlformats.org/drawingml/2006/main">
              <a:ext uri="{FF2B5EF4-FFF2-40B4-BE49-F238E27FC236}">
                <a16:creationId xmlns:a16="http://schemas.microsoft.com/office/drawing/2014/main" id="{A43D3D43-5443-4362-A8E9-EF5F7F9BD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62250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Balancing</a:t>
            </a:r>
          </a:p>
        </p:txBody>
      </p:sp>
      <p:sp>
        <p:nvSpPr>
          <p:cNvPr id="17" name="bookend-product-copy">
            <a:extLst xmlns:a="http://schemas.openxmlformats.org/drawingml/2006/main">
              <a:ext uri="{FF2B5EF4-FFF2-40B4-BE49-F238E27FC236}">
                <a16:creationId xmlns:a16="http://schemas.microsoft.com/office/drawing/2014/main" id="{BC5CC39D-5FF4-4ABC-89F8-BCB5E9294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71875"/>
            <a:ext cx="4762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5E6269"/>
                </a:solidFill>
              </a:defRPr>
            </a:pPr>
            <a:r>
              <a:rPr sz="1950" b="0">
                <a:solidFill>
                  <a:srgbClr val="5E6269"/>
                </a:solidFill>
              </a:rPr>
              <a:t>Compare the result with the target—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5E6269"/>
                </a:solidFill>
              </a:defRPr>
            </a:pPr>
            <a:r>
              <a:rPr sz="1950" b="0">
                <a:solidFill>
                  <a:srgbClr val="5E6269"/>
                </a:solidFill>
              </a:rPr>
              <a:t>then act to close the gap.</a:t>
            </a:r>
          </a:p>
        </p:txBody>
      </p:sp>
    </p:spTree>
    <p:extLst>
      <p:ext uri="{BB962C8B-B14F-4D97-AF65-F5344CB8AC3E}">
        <p14:creationId xmlns:p14="http://schemas.microsoft.com/office/powerpoint/2010/main" val="99970315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-16">
            <a:extLst xmlns:a="http://schemas.openxmlformats.org/drawingml/2006/main">
              <a:ext uri="{FF2B5EF4-FFF2-40B4-BE49-F238E27FC236}">
                <a16:creationId xmlns:a16="http://schemas.microsoft.com/office/drawing/2014/main" id="{066C8E6D-8204-4FBC-8C9A-BA5E646F8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16">
            <a:extLst xmlns:a="http://schemas.openxmlformats.org/drawingml/2006/main">
              <a:ext uri="{FF2B5EF4-FFF2-40B4-BE49-F238E27FC236}">
                <a16:creationId xmlns:a16="http://schemas.microsoft.com/office/drawing/2014/main" id="{148A7B00-A259-40A9-9275-06C92022D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28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E6269"/>
                </a:solidFill>
              </a:defRPr>
            </a:pPr>
            <a:r>
              <a:rPr sz="1350" b="1">
                <a:solidFill>
                  <a:srgbClr val="5E6269"/>
                </a:solidFill>
              </a:rPr>
              <a:t>PRODUCT · RECOGNISE IT</a:t>
            </a:r>
          </a:p>
        </p:txBody>
      </p:sp>
      <p:sp>
        <p:nvSpPr>
          <p:cNvPr id="3" name="title-16">
            <a:extLst xmlns:a="http://schemas.openxmlformats.org/drawingml/2006/main">
              <a:ext uri="{FF2B5EF4-FFF2-40B4-BE49-F238E27FC236}">
                <a16:creationId xmlns:a16="http://schemas.microsoft.com/office/drawing/2014/main" id="{D1A4BA82-13B2-4FEA-87A6-2E87DC820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3919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75" b="1">
                <a:solidFill>
                  <a:srgbClr val="000000"/>
                </a:solidFill>
              </a:defRPr>
            </a:pPr>
            <a:r>
              <a:rPr sz="3375" b="1">
                <a:solidFill>
                  <a:srgbClr val="000000"/>
                </a:solidFill>
              </a:rPr>
              <a:t>Think of a feature your team shipped successfully</a:t>
            </a:r>
          </a:p>
        </p:txBody>
      </p:sp>
      <p:sp>
        <p:nvSpPr>
          <p:cNvPr id="4" name="page-16">
            <a:extLst xmlns:a="http://schemas.openxmlformats.org/drawingml/2006/main">
              <a:ext uri="{FF2B5EF4-FFF2-40B4-BE49-F238E27FC236}">
                <a16:creationId xmlns:a16="http://schemas.microsoft.com/office/drawing/2014/main" id="{3FC3252C-B51D-494B-83C7-2E48D5FD2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647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E6269"/>
                </a:solidFill>
              </a:defRPr>
            </a:pPr>
            <a:r>
              <a:rPr sz="975" b="0">
                <a:solidFill>
                  <a:srgbClr val="5E6269"/>
                </a:solidFill>
              </a:rPr>
              <a:t>16</a:t>
            </a:r>
          </a:p>
        </p:txBody>
      </p:sp>
      <p:sp>
        <p:nvSpPr>
          <p:cNvPr id="5" name="progress-16-0">
            <a:extLst xmlns:a="http://schemas.openxmlformats.org/drawingml/2006/main">
              <a:ext uri="{FF2B5EF4-FFF2-40B4-BE49-F238E27FC236}">
                <a16:creationId xmlns:a16="http://schemas.microsoft.com/office/drawing/2014/main" id="{BB24D816-D13E-48A2-B653-9ACA91575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66700"/>
            <a:ext cx="6858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000000"/>
                </a:solidFill>
              </a:defRPr>
            </a:pPr>
            <a:r>
              <a:rPr sz="825" b="1">
                <a:solidFill>
                  <a:srgbClr val="000000"/>
                </a:solidFill>
              </a:rPr>
              <a:t>Code</a:t>
            </a:r>
          </a:p>
        </p:txBody>
      </p:sp>
      <p:sp>
        <p:nvSpPr>
          <p:cNvPr id="6" name="progress-16-1">
            <a:extLst xmlns:a="http://schemas.openxmlformats.org/drawingml/2006/main">
              <a:ext uri="{FF2B5EF4-FFF2-40B4-BE49-F238E27FC236}">
                <a16:creationId xmlns:a16="http://schemas.microsoft.com/office/drawing/2014/main" id="{93AF9B39-40DA-4335-87E7-D52776FC7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66700"/>
            <a:ext cx="6858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000000"/>
                </a:solidFill>
              </a:defRPr>
            </a:pPr>
            <a:r>
              <a:rPr sz="825" b="1">
                <a:solidFill>
                  <a:srgbClr val="000000"/>
                </a:solidFill>
              </a:rPr>
              <a:t>Delivery</a:t>
            </a:r>
          </a:p>
        </p:txBody>
      </p:sp>
      <p:sp>
        <p:nvSpPr>
          <p:cNvPr id="7" name="progress-16-2">
            <a:extLst xmlns:a="http://schemas.openxmlformats.org/drawingml/2006/main">
              <a:ext uri="{FF2B5EF4-FFF2-40B4-BE49-F238E27FC236}">
                <a16:creationId xmlns:a16="http://schemas.microsoft.com/office/drawing/2014/main" id="{7C7C4755-C181-4777-B18B-258E96FB7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266700"/>
            <a:ext cx="6858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000000"/>
                </a:solidFill>
              </a:defRPr>
            </a:pPr>
            <a:r>
              <a:rPr sz="825" b="1">
                <a:solidFill>
                  <a:srgbClr val="000000"/>
                </a:solidFill>
              </a:rPr>
              <a:t>AI</a:t>
            </a:r>
          </a:p>
        </p:txBody>
      </p:sp>
      <p:sp>
        <p:nvSpPr>
          <p:cNvPr id="8" name="progress-16-3">
            <a:extLst xmlns:a="http://schemas.openxmlformats.org/drawingml/2006/main">
              <a:ext uri="{FF2B5EF4-FFF2-40B4-BE49-F238E27FC236}">
                <a16:creationId xmlns:a16="http://schemas.microsoft.com/office/drawing/2014/main" id="{AA9DBC7C-C928-4844-92A7-C61C4A50D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266700"/>
            <a:ext cx="6858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Product</a:t>
            </a:r>
          </a:p>
        </p:txBody>
      </p:sp>
      <p:sp>
        <p:nvSpPr>
          <p:cNvPr id="9" name="progress-16-4">
            <a:extLst xmlns:a="http://schemas.openxmlformats.org/drawingml/2006/main">
              <a:ext uri="{FF2B5EF4-FFF2-40B4-BE49-F238E27FC236}">
                <a16:creationId xmlns:a16="http://schemas.microsoft.com/office/drawing/2014/main" id="{197A40CB-3C89-447E-997F-9B5C00519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2325" y="266700"/>
            <a:ext cx="6858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5E6269"/>
                </a:solidFill>
              </a:defRPr>
            </a:pPr>
            <a:r>
              <a:rPr sz="825" b="1">
                <a:solidFill>
                  <a:srgbClr val="5E6269"/>
                </a:solidFill>
              </a:rPr>
              <a:t>People</a:t>
            </a:r>
          </a:p>
        </p:txBody>
      </p:sp>
      <p:sp>
        <p:nvSpPr>
          <p:cNvPr id="10" name="product-setup">
            <a:extLst xmlns:a="http://schemas.openxmlformats.org/drawingml/2006/main">
              <a:ext uri="{FF2B5EF4-FFF2-40B4-BE49-F238E27FC236}">
                <a16:creationId xmlns:a16="http://schemas.microsoft.com/office/drawing/2014/main" id="{23D61589-1E94-4B95-98C5-58319136B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0">
                <a:solidFill>
                  <a:srgbClr val="5E6269"/>
                </a:solidFill>
              </a:defRPr>
            </a:pPr>
            <a:r>
              <a:rPr sz="2325" b="0">
                <a:solidFill>
                  <a:srgbClr val="5E6269"/>
                </a:solidFill>
              </a:rPr>
              <a:t>It worked. It was released. The ticket was closed.</a:t>
            </a:r>
          </a:p>
        </p:txBody>
      </p:sp>
      <p:sp>
        <p:nvSpPr>
          <p:cNvPr id="11" name="product-reflect-panel">
            <a:extLst xmlns:a="http://schemas.openxmlformats.org/drawingml/2006/main">
              <a:ext uri="{FF2B5EF4-FFF2-40B4-BE49-F238E27FC236}">
                <a16:creationId xmlns:a16="http://schemas.microsoft.com/office/drawing/2014/main" id="{FD7CA18C-5334-4130-B71F-E2E6D0734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0"/>
            <a:ext cx="113919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roduct-reflect">
            <a:extLst xmlns:a="http://schemas.openxmlformats.org/drawingml/2006/main">
              <a:ext uri="{FF2B5EF4-FFF2-40B4-BE49-F238E27FC236}">
                <a16:creationId xmlns:a16="http://schemas.microsoft.com/office/drawing/2014/main" id="{EC287E67-6472-401B-B82F-855EF9A74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86125"/>
            <a:ext cx="1028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4125" b="1">
                <a:solidFill>
                  <a:srgbClr val="000000"/>
                </a:solidFill>
              </a:defRPr>
            </a:pPr>
            <a:r>
              <a:rPr sz="4125" b="1">
                <a:solidFill>
                  <a:srgbClr val="000000"/>
                </a:solidFill>
              </a:rPr>
              <a:t>How did you know</a:t>
            </a:r>
          </a:p>
          <a:p xmlns:a="http://schemas.openxmlformats.org/drawingml/2006/main">
            <a:pPr algn="l">
              <a:buNone/>
              <a:defRPr sz="4125" b="1">
                <a:solidFill>
                  <a:srgbClr val="000000"/>
                </a:solidFill>
              </a:defRPr>
            </a:pPr>
            <a:r>
              <a:rPr sz="4125" b="1">
                <a:solidFill>
                  <a:srgbClr val="000000"/>
                </a:solidFill>
              </a:rPr>
              <a:t>it actually helped anyone?</a:t>
            </a:r>
          </a:p>
        </p:txBody>
      </p:sp>
      <p:sp>
        <p:nvSpPr>
          <p:cNvPr id="13" name="silent-reflection">
            <a:extLst xmlns:a="http://schemas.openxmlformats.org/drawingml/2006/main">
              <a:ext uri="{FF2B5EF4-FFF2-40B4-BE49-F238E27FC236}">
                <a16:creationId xmlns:a16="http://schemas.microsoft.com/office/drawing/2014/main" id="{370DDE79-648E-4FBB-B7FC-47837F7D1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6737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5E6269"/>
                </a:solidFill>
              </a:defRPr>
            </a:pPr>
            <a:r>
              <a:rPr sz="1575" b="1">
                <a:solidFill>
                  <a:srgbClr val="5E6269"/>
                </a:solidFill>
              </a:rPr>
              <a:t>Take a moment. No hands needed.</a:t>
            </a:r>
          </a:p>
        </p:txBody>
      </p:sp>
    </p:spTree>
    <p:extLst>
      <p:ext uri="{BB962C8B-B14F-4D97-AF65-F5344CB8AC3E}">
        <p14:creationId xmlns:p14="http://schemas.microsoft.com/office/powerpoint/2010/main" val="190934448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-17">
            <a:extLst xmlns:a="http://schemas.openxmlformats.org/drawingml/2006/main">
              <a:ext uri="{FF2B5EF4-FFF2-40B4-BE49-F238E27FC236}">
                <a16:creationId xmlns:a16="http://schemas.microsoft.com/office/drawing/2014/main" id="{94F1D54C-CA58-4524-8EFF-8828DF327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17">
            <a:extLst xmlns:a="http://schemas.openxmlformats.org/drawingml/2006/main">
              <a:ext uri="{FF2B5EF4-FFF2-40B4-BE49-F238E27FC236}">
                <a16:creationId xmlns:a16="http://schemas.microsoft.com/office/drawing/2014/main" id="{5B495986-CDDE-4D17-8356-1FC9EAEEB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28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E6269"/>
                </a:solidFill>
              </a:defRPr>
            </a:pPr>
            <a:r>
              <a:rPr sz="1350" b="1">
                <a:solidFill>
                  <a:srgbClr val="5E6269"/>
                </a:solidFill>
              </a:rPr>
              <a:t>PRODUCT · EXPLAIN IT</a:t>
            </a:r>
          </a:p>
        </p:txBody>
      </p:sp>
      <p:sp>
        <p:nvSpPr>
          <p:cNvPr id="3" name="title-17">
            <a:extLst xmlns:a="http://schemas.openxmlformats.org/drawingml/2006/main">
              <a:ext uri="{FF2B5EF4-FFF2-40B4-BE49-F238E27FC236}">
                <a16:creationId xmlns:a16="http://schemas.microsoft.com/office/drawing/2014/main" id="{936C974A-237F-4381-A7DC-C53825FCC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3919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75" b="1">
                <a:solidFill>
                  <a:srgbClr val="000000"/>
                </a:solidFill>
              </a:defRPr>
            </a:pPr>
            <a:r>
              <a:rPr sz="3375" b="1">
                <a:solidFill>
                  <a:srgbClr val="000000"/>
                </a:solidFill>
              </a:rPr>
              <a:t>The user’s response closes the loop</a:t>
            </a:r>
          </a:p>
        </p:txBody>
      </p:sp>
      <p:sp>
        <p:nvSpPr>
          <p:cNvPr id="4" name="source-17">
            <a:extLst xmlns:a="http://schemas.openxmlformats.org/drawingml/2006/main">
              <a:ext uri="{FF2B5EF4-FFF2-40B4-BE49-F238E27FC236}">
                <a16:creationId xmlns:a16="http://schemas.microsoft.com/office/drawing/2014/main" id="{1DDC642D-8487-4356-8E4E-143A7B87D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E6269"/>
                </a:solidFill>
              </a:defRPr>
            </a:pPr>
            <a:r>
              <a:rPr sz="900" b="0">
                <a:solidFill>
                  <a:srgbClr val="5E6269"/>
                </a:solidFill>
              </a:rPr>
              <a:t>Source: Google SRE, Service Level Objectives</a:t>
            </a:r>
          </a:p>
        </p:txBody>
      </p:sp>
      <p:sp>
        <p:nvSpPr>
          <p:cNvPr id="5" name="page-17">
            <a:extLst xmlns:a="http://schemas.openxmlformats.org/drawingml/2006/main">
              <a:ext uri="{FF2B5EF4-FFF2-40B4-BE49-F238E27FC236}">
                <a16:creationId xmlns:a16="http://schemas.microsoft.com/office/drawing/2014/main" id="{BD28F85F-0CFE-486F-BAB7-0AEC05159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647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E6269"/>
                </a:solidFill>
              </a:defRPr>
            </a:pPr>
            <a:r>
              <a:rPr sz="975" b="0">
                <a:solidFill>
                  <a:srgbClr val="5E6269"/>
                </a:solidFill>
              </a:rPr>
              <a:t>17</a:t>
            </a:r>
          </a:p>
        </p:txBody>
      </p:sp>
      <p:sp>
        <p:nvSpPr>
          <p:cNvPr id="6" name="progress-17-0">
            <a:extLst xmlns:a="http://schemas.openxmlformats.org/drawingml/2006/main">
              <a:ext uri="{FF2B5EF4-FFF2-40B4-BE49-F238E27FC236}">
                <a16:creationId xmlns:a16="http://schemas.microsoft.com/office/drawing/2014/main" id="{F02DA14C-C3DC-4154-985E-33E2CA491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66700"/>
            <a:ext cx="6858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000000"/>
                </a:solidFill>
              </a:defRPr>
            </a:pPr>
            <a:r>
              <a:rPr sz="825" b="1">
                <a:solidFill>
                  <a:srgbClr val="000000"/>
                </a:solidFill>
              </a:rPr>
              <a:t>Code</a:t>
            </a:r>
          </a:p>
        </p:txBody>
      </p:sp>
      <p:sp>
        <p:nvSpPr>
          <p:cNvPr id="7" name="progress-17-1">
            <a:extLst xmlns:a="http://schemas.openxmlformats.org/drawingml/2006/main">
              <a:ext uri="{FF2B5EF4-FFF2-40B4-BE49-F238E27FC236}">
                <a16:creationId xmlns:a16="http://schemas.microsoft.com/office/drawing/2014/main" id="{204ABAE0-C00C-4FE0-BAA3-21889D984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66700"/>
            <a:ext cx="6858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000000"/>
                </a:solidFill>
              </a:defRPr>
            </a:pPr>
            <a:r>
              <a:rPr sz="825" b="1">
                <a:solidFill>
                  <a:srgbClr val="000000"/>
                </a:solidFill>
              </a:rPr>
              <a:t>Delivery</a:t>
            </a:r>
          </a:p>
        </p:txBody>
      </p:sp>
      <p:sp>
        <p:nvSpPr>
          <p:cNvPr id="8" name="progress-17-2">
            <a:extLst xmlns:a="http://schemas.openxmlformats.org/drawingml/2006/main">
              <a:ext uri="{FF2B5EF4-FFF2-40B4-BE49-F238E27FC236}">
                <a16:creationId xmlns:a16="http://schemas.microsoft.com/office/drawing/2014/main" id="{A6EF167D-C07D-4711-9A36-C95416C64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266700"/>
            <a:ext cx="6858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000000"/>
                </a:solidFill>
              </a:defRPr>
            </a:pPr>
            <a:r>
              <a:rPr sz="825" b="1">
                <a:solidFill>
                  <a:srgbClr val="000000"/>
                </a:solidFill>
              </a:rPr>
              <a:t>AI</a:t>
            </a:r>
          </a:p>
        </p:txBody>
      </p:sp>
      <p:sp>
        <p:nvSpPr>
          <p:cNvPr id="9" name="progress-17-3">
            <a:extLst xmlns:a="http://schemas.openxmlformats.org/drawingml/2006/main">
              <a:ext uri="{FF2B5EF4-FFF2-40B4-BE49-F238E27FC236}">
                <a16:creationId xmlns:a16="http://schemas.microsoft.com/office/drawing/2014/main" id="{FCCDD211-22D9-47AD-9D8E-C96084774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266700"/>
            <a:ext cx="6858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Product</a:t>
            </a:r>
          </a:p>
        </p:txBody>
      </p:sp>
      <p:sp>
        <p:nvSpPr>
          <p:cNvPr id="10" name="progress-17-4">
            <a:extLst xmlns:a="http://schemas.openxmlformats.org/drawingml/2006/main">
              <a:ext uri="{FF2B5EF4-FFF2-40B4-BE49-F238E27FC236}">
                <a16:creationId xmlns:a16="http://schemas.microsoft.com/office/drawing/2014/main" id="{9C44EE2E-FFBA-4451-AE98-4FB1286D2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2325" y="266700"/>
            <a:ext cx="6858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5E6269"/>
                </a:solidFill>
              </a:defRPr>
            </a:pPr>
            <a:r>
              <a:rPr sz="825" b="1">
                <a:solidFill>
                  <a:srgbClr val="5E6269"/>
                </a:solidFill>
              </a:rPr>
              <a:t>People</a:t>
            </a:r>
          </a:p>
        </p:txBody>
      </p:sp>
      <p:sp>
        <p:nvSpPr>
          <p:cNvPr id="11" name="open-label">
            <a:extLst xmlns:a="http://schemas.openxmlformats.org/drawingml/2006/main">
              <a:ext uri="{FF2B5EF4-FFF2-40B4-BE49-F238E27FC236}">
                <a16:creationId xmlns:a16="http://schemas.microsoft.com/office/drawing/2014/main" id="{B9361DBF-35D2-4036-86BB-6F13D0B0E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5E6269"/>
                </a:solidFill>
              </a:defRPr>
            </a:pPr>
            <a:r>
              <a:rPr sz="1425" b="1">
                <a:solidFill>
                  <a:srgbClr val="5E6269"/>
                </a:solidFill>
              </a:rPr>
              <a:t>OPEN</a:t>
            </a:r>
          </a:p>
        </p:txBody>
      </p:sp>
      <p:sp>
        <p:nvSpPr>
          <p:cNvPr id="12" name="open-build">
            <a:extLst xmlns:a="http://schemas.openxmlformats.org/drawingml/2006/main">
              <a:ext uri="{FF2B5EF4-FFF2-40B4-BE49-F238E27FC236}">
                <a16:creationId xmlns:a16="http://schemas.microsoft.com/office/drawing/2014/main" id="{CAC8C2E6-B139-44AC-84A3-0625F7525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8375"/>
            <a:ext cx="1571625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Build</a:t>
            </a:r>
          </a:p>
        </p:txBody>
      </p:sp>
      <p:sp>
        <p:nvSpPr>
          <p:cNvPr id="13" name="open-ship">
            <a:extLst xmlns:a="http://schemas.openxmlformats.org/drawingml/2006/main">
              <a:ext uri="{FF2B5EF4-FFF2-40B4-BE49-F238E27FC236}">
                <a16:creationId xmlns:a16="http://schemas.microsoft.com/office/drawing/2014/main" id="{57A889D3-EF9A-4409-9FF1-8418246F8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238375"/>
            <a:ext cx="1571625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Ship</a:t>
            </a:r>
          </a:p>
        </p:txBody>
      </p:sp>
      <p:sp>
        <p:nvSpPr>
          <p:cNvPr id="14" name="open-close">
            <a:extLst xmlns:a="http://schemas.openxmlformats.org/drawingml/2006/main">
              <a:ext uri="{FF2B5EF4-FFF2-40B4-BE49-F238E27FC236}">
                <a16:creationId xmlns:a16="http://schemas.microsoft.com/office/drawing/2014/main" id="{F15F1E7C-857F-4F5E-8F42-407C9D801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238375"/>
            <a:ext cx="1666875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Close ticket</a:t>
            </a:r>
          </a:p>
        </p:txBody>
      </p:sp>
      <p:cxnSp>
        <p:nvCxnSpPr>
          <p:cNvPr id="64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1971675" y="2600325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  <a:tailEnd type="triangle" w="med" len="med"/>
          </a:ln>
        </p:spPr>
      </p:cxnSp>
      <p:cxnSp>
        <p:nvCxnSpPr>
          <p:cNvPr id="65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3952875" y="2600325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  <a:tailEnd type="triangle" w="med" len="med"/>
          </a:ln>
        </p:spPr>
      </p:cxnSp>
      <p:sp>
        <p:nvSpPr>
          <p:cNvPr id="17" name="closed-label">
            <a:extLst xmlns:a="http://schemas.openxmlformats.org/drawingml/2006/main">
              <a:ext uri="{FF2B5EF4-FFF2-40B4-BE49-F238E27FC236}">
                <a16:creationId xmlns:a16="http://schemas.microsoft.com/office/drawing/2014/main" id="{1A555D4F-0B6C-4EF0-A487-7000D2DE2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764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3D8DFF"/>
                </a:solidFill>
              </a:defRPr>
            </a:pPr>
            <a:r>
              <a:rPr sz="1425" b="1">
                <a:solidFill>
                  <a:srgbClr val="3D8DFF"/>
                </a:solidFill>
              </a:rPr>
              <a:t>CLOSED</a:t>
            </a:r>
          </a:p>
        </p:txBody>
      </p:sp>
      <p:sp>
        <p:nvSpPr>
          <p:cNvPr id="18" name="closed-build">
            <a:extLst xmlns:a="http://schemas.openxmlformats.org/drawingml/2006/main">
              <a:ext uri="{FF2B5EF4-FFF2-40B4-BE49-F238E27FC236}">
                <a16:creationId xmlns:a16="http://schemas.microsoft.com/office/drawing/2014/main" id="{6F1D3DDF-8B9B-4E6D-A33F-3370406B3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238375"/>
            <a:ext cx="1762125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Build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and ship</a:t>
            </a:r>
          </a:p>
        </p:txBody>
      </p:sp>
      <p:sp>
        <p:nvSpPr>
          <p:cNvPr id="19" name="closed-user">
            <a:extLst xmlns:a="http://schemas.openxmlformats.org/drawingml/2006/main">
              <a:ext uri="{FF2B5EF4-FFF2-40B4-BE49-F238E27FC236}">
                <a16:creationId xmlns:a16="http://schemas.microsoft.com/office/drawing/2014/main" id="{B381618D-DCF4-47FF-B7F0-894793745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38375"/>
            <a:ext cx="18097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User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response</a:t>
            </a:r>
          </a:p>
        </p:txBody>
      </p:sp>
      <p:sp>
        <p:nvSpPr>
          <p:cNvPr id="20" name="closed-decision">
            <a:extLst xmlns:a="http://schemas.openxmlformats.org/drawingml/2006/main">
              <a:ext uri="{FF2B5EF4-FFF2-40B4-BE49-F238E27FC236}">
                <a16:creationId xmlns:a16="http://schemas.microsoft.com/office/drawing/2014/main" id="{A0DAC8B5-1EDD-4BA3-833D-CE2087630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905250"/>
            <a:ext cx="18097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Next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decision</a:t>
            </a:r>
          </a:p>
        </p:txBody>
      </p:sp>
      <p:cxnSp>
        <p:nvCxnSpPr>
          <p:cNvPr id="70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8315325" y="2638425"/>
            <a:ext cx="12096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  <a:tailEnd type="triangle" w="med" len="med"/>
          </a:ln>
        </p:spPr>
      </p:cxnSp>
      <p:cxnSp>
        <p:nvCxnSpPr>
          <p:cNvPr id="71" name=""/>
          <p:cNvCxnSpPr>
            <a:stCxn xmlns:a="http://schemas.openxmlformats.org/drawingml/2006/main" id="19" idx="2"/>
            <a:endCxn xmlns:a="http://schemas.openxmlformats.org/drawingml/2006/main" id="20" idx="3"/>
          </p:cNvCxnSpPr>
          <p:nvPr/>
        </p:nvCxnSpPr>
        <p:spPr>
          <a:xfrm xmlns:a="http://schemas.openxmlformats.org/drawingml/2006/main" flipH="1">
            <a:off x="9858375" y="3038475"/>
            <a:ext cx="571500" cy="1266825"/>
          </a:xfrm>
          <a:prstGeom xmlns:a="http://schemas.openxmlformats.org/drawingml/2006/main" prst="bentConnector5">
            <a:avLst>
              <a:gd name="adj1" fmla="val 0"/>
              <a:gd name="adj2" fmla="val 18045"/>
              <a:gd name="adj3" fmla="val 60000"/>
            </a:avLst>
          </a:prstGeom>
          <a:ln xmlns:a="http://schemas.openxmlformats.org/drawingml/2006/main" w="28575">
            <a:solidFill>
              <a:srgbClr val="3D8DFF"/>
            </a:solidFill>
            <a:prstDash val="solid"/>
            <a:tailEnd type="triangle" w="med" len="med"/>
          </a:ln>
        </p:spPr>
      </p:cxnSp>
      <p:cxnSp>
        <p:nvCxnSpPr>
          <p:cNvPr id="72" name=""/>
          <p:cNvCxnSpPr>
            <a:stCxn xmlns:a="http://schemas.openxmlformats.org/drawingml/2006/main" id="20" idx="1"/>
            <a:endCxn xmlns:a="http://schemas.openxmlformats.org/drawingml/2006/main" id="18" idx="2"/>
          </p:cNvCxnSpPr>
          <p:nvPr/>
        </p:nvCxnSpPr>
        <p:spPr>
          <a:xfrm xmlns:a="http://schemas.openxmlformats.org/drawingml/2006/main" flipH="1" flipV="1">
            <a:off x="7434263" y="3038475"/>
            <a:ext cx="614363" cy="1266825"/>
          </a:xfrm>
          <a:prstGeom xmlns:a="http://schemas.openxmlformats.org/drawingml/2006/main" prst="bentConnector2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  <a:tailEnd type="triangle" w="med" len="med"/>
          </a:ln>
        </p:spPr>
      </p:cxnSp>
      <p:sp>
        <p:nvSpPr>
          <p:cNvPr id="24" name="product-leverage">
            <a:extLst xmlns:a="http://schemas.openxmlformats.org/drawingml/2006/main">
              <a:ext uri="{FF2B5EF4-FFF2-40B4-BE49-F238E27FC236}">
                <a16:creationId xmlns:a16="http://schemas.microsoft.com/office/drawing/2014/main" id="{FAC88602-89CA-4D44-9636-9E2C772AF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95875"/>
            <a:ext cx="10810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One move: connect one useful signal to a decision somebody can make.</a:t>
            </a:r>
          </a:p>
        </p:txBody>
      </p:sp>
      <p:sp>
        <p:nvSpPr>
          <p:cNvPr id="25" name="carry-rule-17">
            <a:extLst xmlns:a="http://schemas.openxmlformats.org/drawingml/2006/main">
              <a:ext uri="{FF2B5EF4-FFF2-40B4-BE49-F238E27FC236}">
                <a16:creationId xmlns:a16="http://schemas.microsoft.com/office/drawing/2014/main" id="{B8CC26D4-8905-4D27-B0A4-C34E49F84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293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carry-17">
            <a:extLst xmlns:a="http://schemas.openxmlformats.org/drawingml/2006/main">
              <a:ext uri="{FF2B5EF4-FFF2-40B4-BE49-F238E27FC236}">
                <a16:creationId xmlns:a16="http://schemas.microsoft.com/office/drawing/2014/main" id="{701F32F6-1E32-4CBF-AC0C-726FB1492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10668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What changed for the user—and how will that change what we do next?</a:t>
            </a:r>
          </a:p>
        </p:txBody>
      </p:sp>
    </p:spTree>
    <p:extLst>
      <p:ext uri="{BB962C8B-B14F-4D97-AF65-F5344CB8AC3E}">
        <p14:creationId xmlns:p14="http://schemas.microsoft.com/office/powerpoint/2010/main" val="22243124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-18">
            <a:extLst xmlns:a="http://schemas.openxmlformats.org/drawingml/2006/main">
              <a:ext uri="{FF2B5EF4-FFF2-40B4-BE49-F238E27FC236}">
                <a16:creationId xmlns:a16="http://schemas.microsoft.com/office/drawing/2014/main" id="{3B28AB3F-C0FD-4AD4-A766-47ABDCBDC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18">
            <a:extLst xmlns:a="http://schemas.openxmlformats.org/drawingml/2006/main">
              <a:ext uri="{FF2B5EF4-FFF2-40B4-BE49-F238E27FC236}">
                <a16:creationId xmlns:a16="http://schemas.microsoft.com/office/drawing/2014/main" id="{10AA9215-71AF-45FC-B2D3-CADFB1F05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28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E6269"/>
                </a:solidFill>
              </a:defRPr>
            </a:pPr>
            <a:r>
              <a:rPr sz="1350" b="1">
                <a:solidFill>
                  <a:srgbClr val="5E6269"/>
                </a:solidFill>
              </a:rPr>
              <a:t>PEOPLE · DESTINATION</a:t>
            </a:r>
          </a:p>
        </p:txBody>
      </p:sp>
      <p:sp>
        <p:nvSpPr>
          <p:cNvPr id="3" name="title-18">
            <a:extLst xmlns:a="http://schemas.openxmlformats.org/drawingml/2006/main">
              <a:ext uri="{FF2B5EF4-FFF2-40B4-BE49-F238E27FC236}">
                <a16:creationId xmlns:a16="http://schemas.microsoft.com/office/drawing/2014/main" id="{A06FC9F3-9B16-4D6F-8545-373A2D7E5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3919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75" b="1">
                <a:solidFill>
                  <a:srgbClr val="000000"/>
                </a:solidFill>
              </a:defRPr>
            </a:pPr>
            <a:r>
              <a:rPr sz="3375" b="1">
                <a:solidFill>
                  <a:srgbClr val="000000"/>
                </a:solidFill>
              </a:rPr>
              <a:t>Every system today already had a person in it</a:t>
            </a:r>
          </a:p>
        </p:txBody>
      </p:sp>
      <p:sp>
        <p:nvSpPr>
          <p:cNvPr id="4" name="page-18">
            <a:extLst xmlns:a="http://schemas.openxmlformats.org/drawingml/2006/main">
              <a:ext uri="{FF2B5EF4-FFF2-40B4-BE49-F238E27FC236}">
                <a16:creationId xmlns:a16="http://schemas.microsoft.com/office/drawing/2014/main" id="{5CCE56C2-4313-4091-8A8E-17BB565CD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647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E6269"/>
                </a:solidFill>
              </a:defRPr>
            </a:pPr>
            <a:r>
              <a:rPr sz="975" b="0">
                <a:solidFill>
                  <a:srgbClr val="5E6269"/>
                </a:solidFill>
              </a:rPr>
              <a:t>18</a:t>
            </a:r>
          </a:p>
        </p:txBody>
      </p:sp>
      <p:sp>
        <p:nvSpPr>
          <p:cNvPr id="5" name="progress-18-0">
            <a:extLst xmlns:a="http://schemas.openxmlformats.org/drawingml/2006/main">
              <a:ext uri="{FF2B5EF4-FFF2-40B4-BE49-F238E27FC236}">
                <a16:creationId xmlns:a16="http://schemas.microsoft.com/office/drawing/2014/main" id="{39690736-7ECA-4D6D-8C84-5F808B881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66700"/>
            <a:ext cx="6858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000000"/>
                </a:solidFill>
              </a:defRPr>
            </a:pPr>
            <a:r>
              <a:rPr sz="825" b="1">
                <a:solidFill>
                  <a:srgbClr val="000000"/>
                </a:solidFill>
              </a:rPr>
              <a:t>Code</a:t>
            </a:r>
          </a:p>
        </p:txBody>
      </p:sp>
      <p:sp>
        <p:nvSpPr>
          <p:cNvPr id="6" name="progress-18-1">
            <a:extLst xmlns:a="http://schemas.openxmlformats.org/drawingml/2006/main">
              <a:ext uri="{FF2B5EF4-FFF2-40B4-BE49-F238E27FC236}">
                <a16:creationId xmlns:a16="http://schemas.microsoft.com/office/drawing/2014/main" id="{1AFC76A6-CA0A-44F5-916E-864B3BECB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66700"/>
            <a:ext cx="6858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000000"/>
                </a:solidFill>
              </a:defRPr>
            </a:pPr>
            <a:r>
              <a:rPr sz="825" b="1">
                <a:solidFill>
                  <a:srgbClr val="000000"/>
                </a:solidFill>
              </a:rPr>
              <a:t>Delivery</a:t>
            </a:r>
          </a:p>
        </p:txBody>
      </p:sp>
      <p:sp>
        <p:nvSpPr>
          <p:cNvPr id="7" name="progress-18-2">
            <a:extLst xmlns:a="http://schemas.openxmlformats.org/drawingml/2006/main">
              <a:ext uri="{FF2B5EF4-FFF2-40B4-BE49-F238E27FC236}">
                <a16:creationId xmlns:a16="http://schemas.microsoft.com/office/drawing/2014/main" id="{5F1287A7-08E3-41AB-8A0E-CC80D29BB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266700"/>
            <a:ext cx="6858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000000"/>
                </a:solidFill>
              </a:defRPr>
            </a:pPr>
            <a:r>
              <a:rPr sz="825" b="1">
                <a:solidFill>
                  <a:srgbClr val="000000"/>
                </a:solidFill>
              </a:rPr>
              <a:t>AI</a:t>
            </a:r>
          </a:p>
        </p:txBody>
      </p:sp>
      <p:sp>
        <p:nvSpPr>
          <p:cNvPr id="8" name="progress-18-3">
            <a:extLst xmlns:a="http://schemas.openxmlformats.org/drawingml/2006/main">
              <a:ext uri="{FF2B5EF4-FFF2-40B4-BE49-F238E27FC236}">
                <a16:creationId xmlns:a16="http://schemas.microsoft.com/office/drawing/2014/main" id="{B718FF9B-511E-48CC-B5FA-B8BC13CE4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266700"/>
            <a:ext cx="6858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000000"/>
                </a:solidFill>
              </a:defRPr>
            </a:pPr>
            <a:r>
              <a:rPr sz="825" b="1">
                <a:solidFill>
                  <a:srgbClr val="000000"/>
                </a:solidFill>
              </a:rPr>
              <a:t>Product</a:t>
            </a:r>
          </a:p>
        </p:txBody>
      </p:sp>
      <p:sp>
        <p:nvSpPr>
          <p:cNvPr id="9" name="progress-18-4">
            <a:extLst xmlns:a="http://schemas.openxmlformats.org/drawingml/2006/main">
              <a:ext uri="{FF2B5EF4-FFF2-40B4-BE49-F238E27FC236}">
                <a16:creationId xmlns:a16="http://schemas.microsoft.com/office/drawing/2014/main" id="{DDBC9D73-7902-4025-9395-86F3B6192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2325" y="266700"/>
            <a:ext cx="6858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People</a:t>
            </a:r>
          </a:p>
        </p:txBody>
      </p:sp>
      <p:sp>
        <p:nvSpPr>
          <p:cNvPr id="10" name="person-choice-0">
            <a:extLst xmlns:a="http://schemas.openxmlformats.org/drawingml/2006/main">
              <a:ext uri="{FF2B5EF4-FFF2-40B4-BE49-F238E27FC236}">
                <a16:creationId xmlns:a16="http://schemas.microsoft.com/office/drawing/2014/main" id="{909F1FEF-94C1-40D0-B464-21BC13526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57375"/>
            <a:ext cx="2857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wrote the retry</a:t>
            </a:r>
          </a:p>
        </p:txBody>
      </p:sp>
      <p:sp>
        <p:nvSpPr>
          <p:cNvPr id="11" name="person-choice-1">
            <a:extLst xmlns:a="http://schemas.openxmlformats.org/drawingml/2006/main">
              <a:ext uri="{FF2B5EF4-FFF2-40B4-BE49-F238E27FC236}">
                <a16:creationId xmlns:a16="http://schemas.microsoft.com/office/drawing/2014/main" id="{EC91BE4E-52EF-4303-BB56-02245809A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0"/>
            <a:ext cx="2857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marked it done</a:t>
            </a:r>
          </a:p>
        </p:txBody>
      </p:sp>
      <p:sp>
        <p:nvSpPr>
          <p:cNvPr id="12" name="person-choice-2">
            <a:extLst xmlns:a="http://schemas.openxmlformats.org/drawingml/2006/main">
              <a:ext uri="{FF2B5EF4-FFF2-40B4-BE49-F238E27FC236}">
                <a16:creationId xmlns:a16="http://schemas.microsoft.com/office/drawing/2014/main" id="{4467534C-1BA2-4F98-8A62-0ECA3073B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57625"/>
            <a:ext cx="2857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accepted the PR</a:t>
            </a:r>
          </a:p>
        </p:txBody>
      </p:sp>
      <p:sp>
        <p:nvSpPr>
          <p:cNvPr id="13" name="person-choice-3">
            <a:extLst xmlns:a="http://schemas.openxmlformats.org/drawingml/2006/main">
              <a:ext uri="{FF2B5EF4-FFF2-40B4-BE49-F238E27FC236}">
                <a16:creationId xmlns:a16="http://schemas.microsoft.com/office/drawing/2014/main" id="{DF9D0AB6-DA90-4C47-96B2-C8133575C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57750"/>
            <a:ext cx="2857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closed the ticket</a:t>
            </a:r>
          </a:p>
        </p:txBody>
      </p:sp>
      <p:sp>
        <p:nvSpPr>
          <p:cNvPr id="14" name="people-center">
            <a:extLst xmlns:a="http://schemas.openxmlformats.org/drawingml/2006/main">
              <a:ext uri="{FF2B5EF4-FFF2-40B4-BE49-F238E27FC236}">
                <a16:creationId xmlns:a16="http://schemas.microsoft.com/office/drawing/2014/main" id="{5F4CC969-EC2C-48D5-BAAC-37A49B8CA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19375"/>
            <a:ext cx="3143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People</a:t>
            </a:r>
          </a:p>
        </p:txBody>
      </p:sp>
      <p:cxnSp>
        <p:nvCxnSpPr>
          <p:cNvPr id="52" name=""/>
          <p:cNvCxnSpPr>
            <a:stCxn xmlns:a="http://schemas.openxmlformats.org/drawingml/2006/main" id="1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3257550" y="2181225"/>
            <a:ext cx="3981450" cy="1152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tailEnd type="triangle" w="med" len="med"/>
          </a:ln>
        </p:spPr>
      </p:cxnSp>
      <p:cxnSp>
        <p:nvCxnSpPr>
          <p:cNvPr id="53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3257550" y="3181350"/>
            <a:ext cx="3981450" cy="1524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tailEnd type="triangle" w="med" len="med"/>
          </a:ln>
        </p:spPr>
      </p:cxnSp>
      <p:cxnSp>
        <p:nvCxnSpPr>
          <p:cNvPr id="54" name=""/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V="1">
            <a:off x="3257550" y="3333750"/>
            <a:ext cx="3981450" cy="8477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tailEnd type="triangle" w="med" len="med"/>
          </a:ln>
        </p:spPr>
      </p:cxnSp>
      <p:cxnSp>
        <p:nvCxnSpPr>
          <p:cNvPr id="55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V="1">
            <a:off x="3257550" y="3333750"/>
            <a:ext cx="3981450" cy="18478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tailEnd type="triangle" w="med" len="med"/>
          </a:ln>
        </p:spPr>
      </p:cxnSp>
      <p:sp>
        <p:nvSpPr>
          <p:cNvPr id="19" name="people-sensible">
            <a:extLst xmlns:a="http://schemas.openxmlformats.org/drawingml/2006/main">
              <a:ext uri="{FF2B5EF4-FFF2-40B4-BE49-F238E27FC236}">
                <a16:creationId xmlns:a16="http://schemas.microsoft.com/office/drawing/2014/main" id="{DF7FD92A-5C95-4B9F-8AE7-28462791A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762500"/>
            <a:ext cx="552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Each made a sensible choice inside the structure around them.</a:t>
            </a:r>
          </a:p>
        </p:txBody>
      </p:sp>
    </p:spTree>
    <p:extLst>
      <p:ext uri="{BB962C8B-B14F-4D97-AF65-F5344CB8AC3E}">
        <p14:creationId xmlns:p14="http://schemas.microsoft.com/office/powerpoint/2010/main" val="60106310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-19">
            <a:extLst xmlns:a="http://schemas.openxmlformats.org/drawingml/2006/main">
              <a:ext uri="{FF2B5EF4-FFF2-40B4-BE49-F238E27FC236}">
                <a16:creationId xmlns:a16="http://schemas.microsoft.com/office/drawing/2014/main" id="{2E5B3EFC-F5DB-4D15-A20D-D5E322DB6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19">
            <a:extLst xmlns:a="http://schemas.openxmlformats.org/drawingml/2006/main">
              <a:ext uri="{FF2B5EF4-FFF2-40B4-BE49-F238E27FC236}">
                <a16:creationId xmlns:a16="http://schemas.microsoft.com/office/drawing/2014/main" id="{5545236C-A00A-48CA-930B-D57A8EAA7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28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E6269"/>
                </a:solidFill>
              </a:defRPr>
            </a:pPr>
            <a:r>
              <a:rPr sz="1350" b="1">
                <a:solidFill>
                  <a:srgbClr val="5E6269"/>
                </a:solidFill>
              </a:rPr>
              <a:t>PEOPLE · RECOGNISE IT</a:t>
            </a:r>
          </a:p>
        </p:txBody>
      </p:sp>
      <p:sp>
        <p:nvSpPr>
          <p:cNvPr id="3" name="title-19">
            <a:extLst xmlns:a="http://schemas.openxmlformats.org/drawingml/2006/main">
              <a:ext uri="{FF2B5EF4-FFF2-40B4-BE49-F238E27FC236}">
                <a16:creationId xmlns:a16="http://schemas.microsoft.com/office/drawing/2014/main" id="{033BC26A-5DE1-459D-80DA-B5573DBBC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3919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75" b="1">
                <a:solidFill>
                  <a:srgbClr val="000000"/>
                </a:solidFill>
              </a:defRPr>
            </a:pPr>
            <a:r>
              <a:rPr sz="3375" b="1">
                <a:solidFill>
                  <a:srgbClr val="000000"/>
                </a:solidFill>
              </a:rPr>
              <a:t>Who does everyone call when something breaks?</a:t>
            </a:r>
          </a:p>
        </p:txBody>
      </p:sp>
      <p:sp>
        <p:nvSpPr>
          <p:cNvPr id="4" name="page-19">
            <a:extLst xmlns:a="http://schemas.openxmlformats.org/drawingml/2006/main">
              <a:ext uri="{FF2B5EF4-FFF2-40B4-BE49-F238E27FC236}">
                <a16:creationId xmlns:a16="http://schemas.microsoft.com/office/drawing/2014/main" id="{CB762CD5-D874-45E4-AC34-225D0E621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647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E6269"/>
                </a:solidFill>
              </a:defRPr>
            </a:pPr>
            <a:r>
              <a:rPr sz="975" b="0">
                <a:solidFill>
                  <a:srgbClr val="5E6269"/>
                </a:solidFill>
              </a:rPr>
              <a:t>19</a:t>
            </a:r>
          </a:p>
        </p:txBody>
      </p:sp>
      <p:sp>
        <p:nvSpPr>
          <p:cNvPr id="5" name="progress-19-0">
            <a:extLst xmlns:a="http://schemas.openxmlformats.org/drawingml/2006/main">
              <a:ext uri="{FF2B5EF4-FFF2-40B4-BE49-F238E27FC236}">
                <a16:creationId xmlns:a16="http://schemas.microsoft.com/office/drawing/2014/main" id="{FA1EA29A-5A09-4518-AE04-2154A22A5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66700"/>
            <a:ext cx="6858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000000"/>
                </a:solidFill>
              </a:defRPr>
            </a:pPr>
            <a:r>
              <a:rPr sz="825" b="1">
                <a:solidFill>
                  <a:srgbClr val="000000"/>
                </a:solidFill>
              </a:rPr>
              <a:t>Code</a:t>
            </a:r>
          </a:p>
        </p:txBody>
      </p:sp>
      <p:sp>
        <p:nvSpPr>
          <p:cNvPr id="6" name="progress-19-1">
            <a:extLst xmlns:a="http://schemas.openxmlformats.org/drawingml/2006/main">
              <a:ext uri="{FF2B5EF4-FFF2-40B4-BE49-F238E27FC236}">
                <a16:creationId xmlns:a16="http://schemas.microsoft.com/office/drawing/2014/main" id="{DA8DADB6-00CC-4DF8-B53A-230942D32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66700"/>
            <a:ext cx="6858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000000"/>
                </a:solidFill>
              </a:defRPr>
            </a:pPr>
            <a:r>
              <a:rPr sz="825" b="1">
                <a:solidFill>
                  <a:srgbClr val="000000"/>
                </a:solidFill>
              </a:rPr>
              <a:t>Delivery</a:t>
            </a:r>
          </a:p>
        </p:txBody>
      </p:sp>
      <p:sp>
        <p:nvSpPr>
          <p:cNvPr id="7" name="progress-19-2">
            <a:extLst xmlns:a="http://schemas.openxmlformats.org/drawingml/2006/main">
              <a:ext uri="{FF2B5EF4-FFF2-40B4-BE49-F238E27FC236}">
                <a16:creationId xmlns:a16="http://schemas.microsoft.com/office/drawing/2014/main" id="{D3E3DF28-C757-42DB-AB7C-E2F43A876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266700"/>
            <a:ext cx="6858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000000"/>
                </a:solidFill>
              </a:defRPr>
            </a:pPr>
            <a:r>
              <a:rPr sz="825" b="1">
                <a:solidFill>
                  <a:srgbClr val="000000"/>
                </a:solidFill>
              </a:rPr>
              <a:t>AI</a:t>
            </a:r>
          </a:p>
        </p:txBody>
      </p:sp>
      <p:sp>
        <p:nvSpPr>
          <p:cNvPr id="8" name="progress-19-3">
            <a:extLst xmlns:a="http://schemas.openxmlformats.org/drawingml/2006/main">
              <a:ext uri="{FF2B5EF4-FFF2-40B4-BE49-F238E27FC236}">
                <a16:creationId xmlns:a16="http://schemas.microsoft.com/office/drawing/2014/main" id="{2F901F49-89B9-4DD2-A729-602B2AF0E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266700"/>
            <a:ext cx="6858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000000"/>
                </a:solidFill>
              </a:defRPr>
            </a:pPr>
            <a:r>
              <a:rPr sz="825" b="1">
                <a:solidFill>
                  <a:srgbClr val="000000"/>
                </a:solidFill>
              </a:rPr>
              <a:t>Product</a:t>
            </a:r>
          </a:p>
        </p:txBody>
      </p:sp>
      <p:sp>
        <p:nvSpPr>
          <p:cNvPr id="9" name="progress-19-4">
            <a:extLst xmlns:a="http://schemas.openxmlformats.org/drawingml/2006/main">
              <a:ext uri="{FF2B5EF4-FFF2-40B4-BE49-F238E27FC236}">
                <a16:creationId xmlns:a16="http://schemas.microsoft.com/office/drawing/2014/main" id="{7451F9C3-44D7-4206-A933-76411B693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2325" y="266700"/>
            <a:ext cx="6858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People</a:t>
            </a:r>
          </a:p>
        </p:txBody>
      </p:sp>
      <p:sp>
        <p:nvSpPr>
          <p:cNvPr id="10" name="people-reflect">
            <a:extLst xmlns:a="http://schemas.openxmlformats.org/drawingml/2006/main">
              <a:ext uri="{FF2B5EF4-FFF2-40B4-BE49-F238E27FC236}">
                <a16:creationId xmlns:a16="http://schemas.microsoft.com/office/drawing/2014/main" id="{D05D02D1-D675-44DF-B9B6-7405FFDCB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1139190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eople-question">
            <a:extLst xmlns:a="http://schemas.openxmlformats.org/drawingml/2006/main">
              <a:ext uri="{FF2B5EF4-FFF2-40B4-BE49-F238E27FC236}">
                <a16:creationId xmlns:a16="http://schemas.microsoft.com/office/drawing/2014/main" id="{7C17F13D-9745-4308-A1FF-46CDF63B2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14625"/>
            <a:ext cx="10287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4500" b="1">
                <a:solidFill>
                  <a:srgbClr val="000000"/>
                </a:solidFill>
              </a:defRPr>
            </a:pPr>
            <a:r>
              <a:rPr sz="4500" b="1">
                <a:solidFill>
                  <a:srgbClr val="000000"/>
                </a:solidFill>
              </a:rPr>
              <a:t>What happens</a:t>
            </a:r>
          </a:p>
          <a:p xmlns:a="http://schemas.openxmlformats.org/drawingml/2006/main">
            <a:pPr algn="l">
              <a:buNone/>
              <a:defRPr sz="4500" b="1">
                <a:solidFill>
                  <a:srgbClr val="000000"/>
                </a:solidFill>
              </a:defRPr>
            </a:pPr>
            <a:r>
              <a:rPr sz="4500" b="1">
                <a:solidFill>
                  <a:srgbClr val="000000"/>
                </a:solidFill>
              </a:rPr>
              <a:t>when they’re not there?</a:t>
            </a:r>
          </a:p>
        </p:txBody>
      </p:sp>
      <p:sp>
        <p:nvSpPr>
          <p:cNvPr id="12" name="private-reflection">
            <a:extLst xmlns:a="http://schemas.openxmlformats.org/drawingml/2006/main">
              <a:ext uri="{FF2B5EF4-FFF2-40B4-BE49-F238E27FC236}">
                <a16:creationId xmlns:a16="http://schemas.microsoft.com/office/drawing/2014/main" id="{2EF4E972-3591-4A72-B613-F7E897FC2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5E6269"/>
                </a:solidFill>
              </a:defRPr>
            </a:pPr>
            <a:r>
              <a:rPr sz="1650" b="1">
                <a:solidFill>
                  <a:srgbClr val="5E6269"/>
                </a:solidFill>
              </a:rPr>
              <a:t>Keep the answer to yourself.</a:t>
            </a:r>
          </a:p>
        </p:txBody>
      </p:sp>
    </p:spTree>
    <p:extLst>
      <p:ext uri="{BB962C8B-B14F-4D97-AF65-F5344CB8AC3E}">
        <p14:creationId xmlns:p14="http://schemas.microsoft.com/office/powerpoint/2010/main" val="168915086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-20">
            <a:extLst xmlns:a="http://schemas.openxmlformats.org/drawingml/2006/main">
              <a:ext uri="{FF2B5EF4-FFF2-40B4-BE49-F238E27FC236}">
                <a16:creationId xmlns:a16="http://schemas.microsoft.com/office/drawing/2014/main" id="{9AE44FBB-4FDD-4C54-A686-F683EC78C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20">
            <a:extLst xmlns:a="http://schemas.openxmlformats.org/drawingml/2006/main">
              <a:ext uri="{FF2B5EF4-FFF2-40B4-BE49-F238E27FC236}">
                <a16:creationId xmlns:a16="http://schemas.microsoft.com/office/drawing/2014/main" id="{69D78FD4-BDC0-4885-8564-D1C7E7220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28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E6269"/>
                </a:solidFill>
              </a:defRPr>
            </a:pPr>
            <a:r>
              <a:rPr sz="1350" b="1">
                <a:solidFill>
                  <a:srgbClr val="5E6269"/>
                </a:solidFill>
              </a:rPr>
              <a:t>PEOPLE · EXPLAIN IT</a:t>
            </a:r>
          </a:p>
        </p:txBody>
      </p:sp>
      <p:sp>
        <p:nvSpPr>
          <p:cNvPr id="3" name="title-20">
            <a:extLst xmlns:a="http://schemas.openxmlformats.org/drawingml/2006/main">
              <a:ext uri="{FF2B5EF4-FFF2-40B4-BE49-F238E27FC236}">
                <a16:creationId xmlns:a16="http://schemas.microsoft.com/office/drawing/2014/main" id="{AE9B1383-D680-4D57-80A8-2DDE6916C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3919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75" b="1">
                <a:solidFill>
                  <a:srgbClr val="000000"/>
                </a:solidFill>
              </a:defRPr>
            </a:pPr>
            <a:r>
              <a:rPr sz="3375" b="1">
                <a:solidFill>
                  <a:srgbClr val="000000"/>
                </a:solidFill>
              </a:rPr>
              <a:t>Rescue can deepen the dependency</a:t>
            </a:r>
          </a:p>
        </p:txBody>
      </p:sp>
      <p:sp>
        <p:nvSpPr>
          <p:cNvPr id="4" name="source-20">
            <a:extLst xmlns:a="http://schemas.openxmlformats.org/drawingml/2006/main">
              <a:ext uri="{FF2B5EF4-FFF2-40B4-BE49-F238E27FC236}">
                <a16:creationId xmlns:a16="http://schemas.microsoft.com/office/drawing/2014/main" id="{6D9ADE7B-0E84-4F29-8334-92E62C977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E6269"/>
                </a:solidFill>
              </a:defRPr>
            </a:pPr>
            <a:r>
              <a:rPr sz="900" b="0">
                <a:solidFill>
                  <a:srgbClr val="5E6269"/>
                </a:solidFill>
              </a:rPr>
              <a:t>Sources: Google SRE Postmortem Culture; work-system research synthesis</a:t>
            </a:r>
          </a:p>
        </p:txBody>
      </p:sp>
      <p:sp>
        <p:nvSpPr>
          <p:cNvPr id="5" name="page-20">
            <a:extLst xmlns:a="http://schemas.openxmlformats.org/drawingml/2006/main">
              <a:ext uri="{FF2B5EF4-FFF2-40B4-BE49-F238E27FC236}">
                <a16:creationId xmlns:a16="http://schemas.microsoft.com/office/drawing/2014/main" id="{EC047440-54A1-4EFD-9C81-4656C42B9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647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E6269"/>
                </a:solidFill>
              </a:defRPr>
            </a:pPr>
            <a:r>
              <a:rPr sz="975" b="0">
                <a:solidFill>
                  <a:srgbClr val="5E6269"/>
                </a:solidFill>
              </a:rPr>
              <a:t>20</a:t>
            </a:r>
          </a:p>
        </p:txBody>
      </p:sp>
      <p:sp>
        <p:nvSpPr>
          <p:cNvPr id="6" name="progress-20-0">
            <a:extLst xmlns:a="http://schemas.openxmlformats.org/drawingml/2006/main">
              <a:ext uri="{FF2B5EF4-FFF2-40B4-BE49-F238E27FC236}">
                <a16:creationId xmlns:a16="http://schemas.microsoft.com/office/drawing/2014/main" id="{7640E2CA-7CE9-403C-8EDC-28D0ABC0C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66700"/>
            <a:ext cx="6858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000000"/>
                </a:solidFill>
              </a:defRPr>
            </a:pPr>
            <a:r>
              <a:rPr sz="825" b="1">
                <a:solidFill>
                  <a:srgbClr val="000000"/>
                </a:solidFill>
              </a:rPr>
              <a:t>Code</a:t>
            </a:r>
          </a:p>
        </p:txBody>
      </p:sp>
      <p:sp>
        <p:nvSpPr>
          <p:cNvPr id="7" name="progress-20-1">
            <a:extLst xmlns:a="http://schemas.openxmlformats.org/drawingml/2006/main">
              <a:ext uri="{FF2B5EF4-FFF2-40B4-BE49-F238E27FC236}">
                <a16:creationId xmlns:a16="http://schemas.microsoft.com/office/drawing/2014/main" id="{B03713FF-BE28-4578-A09C-33C127A9D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66700"/>
            <a:ext cx="6858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000000"/>
                </a:solidFill>
              </a:defRPr>
            </a:pPr>
            <a:r>
              <a:rPr sz="825" b="1">
                <a:solidFill>
                  <a:srgbClr val="000000"/>
                </a:solidFill>
              </a:rPr>
              <a:t>Delivery</a:t>
            </a:r>
          </a:p>
        </p:txBody>
      </p:sp>
      <p:sp>
        <p:nvSpPr>
          <p:cNvPr id="8" name="progress-20-2">
            <a:extLst xmlns:a="http://schemas.openxmlformats.org/drawingml/2006/main">
              <a:ext uri="{FF2B5EF4-FFF2-40B4-BE49-F238E27FC236}">
                <a16:creationId xmlns:a16="http://schemas.microsoft.com/office/drawing/2014/main" id="{06623FF2-B180-4497-BD4B-C0206D23C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266700"/>
            <a:ext cx="6858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000000"/>
                </a:solidFill>
              </a:defRPr>
            </a:pPr>
            <a:r>
              <a:rPr sz="825" b="1">
                <a:solidFill>
                  <a:srgbClr val="000000"/>
                </a:solidFill>
              </a:rPr>
              <a:t>AI</a:t>
            </a:r>
          </a:p>
        </p:txBody>
      </p:sp>
      <p:sp>
        <p:nvSpPr>
          <p:cNvPr id="9" name="progress-20-3">
            <a:extLst xmlns:a="http://schemas.openxmlformats.org/drawingml/2006/main">
              <a:ext uri="{FF2B5EF4-FFF2-40B4-BE49-F238E27FC236}">
                <a16:creationId xmlns:a16="http://schemas.microsoft.com/office/drawing/2014/main" id="{F83735A0-9EC8-4E0C-A437-25A7715A7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266700"/>
            <a:ext cx="6858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000000"/>
                </a:solidFill>
              </a:defRPr>
            </a:pPr>
            <a:r>
              <a:rPr sz="825" b="1">
                <a:solidFill>
                  <a:srgbClr val="000000"/>
                </a:solidFill>
              </a:rPr>
              <a:t>Product</a:t>
            </a:r>
          </a:p>
        </p:txBody>
      </p:sp>
      <p:sp>
        <p:nvSpPr>
          <p:cNvPr id="10" name="progress-20-4">
            <a:extLst xmlns:a="http://schemas.openxmlformats.org/drawingml/2006/main">
              <a:ext uri="{FF2B5EF4-FFF2-40B4-BE49-F238E27FC236}">
                <a16:creationId xmlns:a16="http://schemas.microsoft.com/office/drawing/2014/main" id="{6954E4E3-339B-416D-AE98-A7942679E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2325" y="266700"/>
            <a:ext cx="6858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People</a:t>
            </a:r>
          </a:p>
        </p:txBody>
      </p:sp>
      <p:sp>
        <p:nvSpPr>
          <p:cNvPr id="11" name="hero-key">
            <a:extLst xmlns:a="http://schemas.openxmlformats.org/drawingml/2006/main">
              <a:ext uri="{FF2B5EF4-FFF2-40B4-BE49-F238E27FC236}">
                <a16:creationId xmlns:a16="http://schemas.microsoft.com/office/drawing/2014/main" id="{9FA3E93F-75C3-4A2D-9A74-4F8CD9408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666875"/>
            <a:ext cx="35242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Only one person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understands it</a:t>
            </a:r>
          </a:p>
        </p:txBody>
      </p:sp>
      <p:sp>
        <p:nvSpPr>
          <p:cNvPr id="12" name="hero-rescue">
            <a:extLst xmlns:a="http://schemas.openxmlformats.org/drawingml/2006/main">
              <a:ext uri="{FF2B5EF4-FFF2-40B4-BE49-F238E27FC236}">
                <a16:creationId xmlns:a16="http://schemas.microsoft.com/office/drawing/2014/main" id="{F578FD3D-2657-4D25-BEDA-84613B017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43250"/>
            <a:ext cx="26670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They rescue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the incident</a:t>
            </a:r>
          </a:p>
        </p:txBody>
      </p:sp>
      <p:sp>
        <p:nvSpPr>
          <p:cNvPr id="13" name="hero-relief">
            <a:extLst xmlns:a="http://schemas.openxmlformats.org/drawingml/2006/main">
              <a:ext uri="{FF2B5EF4-FFF2-40B4-BE49-F238E27FC236}">
                <a16:creationId xmlns:a16="http://schemas.microsoft.com/office/drawing/2014/main" id="{CCF551F9-4327-459F-BE7B-B69502C44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76750"/>
            <a:ext cx="26670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Immediate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relief</a:t>
            </a:r>
          </a:p>
        </p:txBody>
      </p:sp>
      <p:sp>
        <p:nvSpPr>
          <p:cNvPr id="14" name="hero-waits">
            <a:extLst xmlns:a="http://schemas.openxmlformats.org/drawingml/2006/main">
              <a:ext uri="{FF2B5EF4-FFF2-40B4-BE49-F238E27FC236}">
                <a16:creationId xmlns:a16="http://schemas.microsoft.com/office/drawing/2014/main" id="{5E890E5B-80A7-4718-A9DA-6B577A4B5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43250"/>
            <a:ext cx="28575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The deeper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improvement waits</a:t>
            </a:r>
          </a:p>
        </p:txBody>
      </p:sp>
      <p:cxnSp>
        <p:nvCxnSpPr>
          <p:cNvPr id="55" name=""/>
          <p:cNvCxnSpPr>
            <a:stCxn xmlns:a="http://schemas.openxmlformats.org/drawingml/2006/main" id="11" idx="3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7858125" y="2095500"/>
            <a:ext cx="1762125" cy="10477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  <a:tailEnd type="triangle" w="med" len="med"/>
          </a:ln>
        </p:spPr>
      </p:cxnSp>
      <p:cxnSp>
        <p:nvCxnSpPr>
          <p:cNvPr id="56" name=""/>
          <p:cNvCxnSpPr>
            <a:stCxn xmlns:a="http://schemas.openxmlformats.org/drawingml/2006/main" id="12" idx="2"/>
            <a:endCxn xmlns:a="http://schemas.openxmlformats.org/drawingml/2006/main" id="13" idx="3"/>
          </p:cNvCxnSpPr>
          <p:nvPr/>
        </p:nvCxnSpPr>
        <p:spPr>
          <a:xfrm xmlns:a="http://schemas.openxmlformats.org/drawingml/2006/main" flipH="1">
            <a:off x="7429500" y="4000500"/>
            <a:ext cx="2190750" cy="9048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  <a:tailEnd type="triangle" w="med" len="med"/>
          </a:ln>
        </p:spPr>
      </p:cxnSp>
      <p:cxnSp>
        <p:nvCxnSpPr>
          <p:cNvPr id="57" name=""/>
          <p:cNvCxnSpPr>
            <a:stCxn xmlns:a="http://schemas.openxmlformats.org/drawingml/2006/main" id="13" idx="1"/>
            <a:endCxn xmlns:a="http://schemas.openxmlformats.org/drawingml/2006/main" id="14" idx="2"/>
          </p:cNvCxnSpPr>
          <p:nvPr/>
        </p:nvCxnSpPr>
        <p:spPr>
          <a:xfrm xmlns:a="http://schemas.openxmlformats.org/drawingml/2006/main" flipH="1" flipV="1">
            <a:off x="2571750" y="4000500"/>
            <a:ext cx="2190750" cy="9048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  <a:tailEnd type="triangle" w="med" len="med"/>
          </a:ln>
        </p:spPr>
      </p:cxnSp>
      <p:cxnSp>
        <p:nvCxnSpPr>
          <p:cNvPr id="58" name=""/>
          <p:cNvCxnSpPr>
            <a:stCxn xmlns:a="http://schemas.openxmlformats.org/drawingml/2006/main" id="14" idx="0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2571750" y="2095500"/>
            <a:ext cx="1762125" cy="10477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  <a:tailEnd type="triangle" w="med" len="med"/>
          </a:ln>
        </p:spPr>
      </p:cxnSp>
      <p:sp>
        <p:nvSpPr>
          <p:cNvPr id="19" name="hero-center">
            <a:extLst xmlns:a="http://schemas.openxmlformats.org/drawingml/2006/main">
              <a:ext uri="{FF2B5EF4-FFF2-40B4-BE49-F238E27FC236}">
                <a16:creationId xmlns:a16="http://schemas.microsoft.com/office/drawing/2014/main" id="{9802AB97-F697-4679-9217-543F3DD37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000375"/>
            <a:ext cx="2571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3D8DFF"/>
                </a:solidFill>
              </a:defRPr>
            </a:pPr>
            <a:r>
              <a:rPr sz="1725" b="1">
                <a:solidFill>
                  <a:srgbClr val="3D8DFF"/>
                </a:solidFill>
              </a:rPr>
              <a:t>DEPENDENCE</a:t>
            </a:r>
          </a:p>
          <a:p xmlns:a="http://schemas.openxmlformats.org/drawingml/2006/main">
            <a:pPr algn="ctr">
              <a:buNone/>
              <a:defRPr sz="1725" b="1">
                <a:solidFill>
                  <a:srgbClr val="3D8DFF"/>
                </a:solidFill>
              </a:defRPr>
            </a:pPr>
            <a:r>
              <a:rPr sz="1725" b="1">
                <a:solidFill>
                  <a:srgbClr val="3D8DFF"/>
                </a:solidFill>
              </a:rPr>
              <a:t>GROWS</a:t>
            </a:r>
          </a:p>
        </p:txBody>
      </p:sp>
      <p:sp>
        <p:nvSpPr>
          <p:cNvPr id="20" name="stakes">
            <a:extLst xmlns:a="http://schemas.openxmlformats.org/drawingml/2006/main">
              <a:ext uri="{FF2B5EF4-FFF2-40B4-BE49-F238E27FC236}">
                <a16:creationId xmlns:a16="http://schemas.microsoft.com/office/drawing/2014/main" id="{5C47E3E0-CA05-417D-9A00-4924AB6BC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0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5E6269"/>
                </a:solidFill>
              </a:defRPr>
            </a:pPr>
            <a:r>
              <a:rPr sz="1500" b="1">
                <a:solidFill>
                  <a:srgbClr val="5E6269"/>
                </a:solidFill>
              </a:rPr>
              <a:t>seconds  →  weeks  →  users  →  somebody’s Saturday</a:t>
            </a:r>
          </a:p>
        </p:txBody>
      </p:sp>
      <p:sp>
        <p:nvSpPr>
          <p:cNvPr id="21" name="carry-rule-20">
            <a:extLst xmlns:a="http://schemas.openxmlformats.org/drawingml/2006/main">
              <a:ext uri="{FF2B5EF4-FFF2-40B4-BE49-F238E27FC236}">
                <a16:creationId xmlns:a16="http://schemas.microsoft.com/office/drawing/2014/main" id="{7983565E-ACAD-489C-88BF-B8925A0A9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293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arry-20">
            <a:extLst xmlns:a="http://schemas.openxmlformats.org/drawingml/2006/main">
              <a:ext uri="{FF2B5EF4-FFF2-40B4-BE49-F238E27FC236}">
                <a16:creationId xmlns:a16="http://schemas.microsoft.com/office/drawing/2014/main" id="{EEEC1152-AFE1-4DC5-9784-660E182A1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10668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What behaviour does this setup reward—even by accident?</a:t>
            </a:r>
          </a:p>
        </p:txBody>
      </p:sp>
    </p:spTree>
    <p:extLst>
      <p:ext uri="{BB962C8B-B14F-4D97-AF65-F5344CB8AC3E}">
        <p14:creationId xmlns:p14="http://schemas.microsoft.com/office/powerpoint/2010/main" val="124262479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98d69bf9b7409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9568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2026-07-15T10:52:53.1410000Z</dcterms:created>
  <dcterms:modified xsi:type="dcterms:W3CDTF">2026-07-15T10:52:53.1410000Z</dcterms:modified>
</coreProperties>
</file>